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07EE39-42F6-4224-913A-FE5B60889325}">
  <a:tblStyle styleId="{A407EE39-42F6-4224-913A-FE5B6088932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63F5789-61F1-4460-8BB7-7D2F9F56B811}"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7B208E96-A423-442F-B9BC-8177B98686DB}"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Good [morning/afternoon] everyone. My name is [Your Name], and today I'll be presenting my final year project, Lendora — a full-stack multi-vendor rental marketplace built for the Bangladeshi market. In short, Lendora lets people rent everyday items like cameras, sound systems, and tools from verified local vendors instead of buying them, with built-in payments, security deposits, and dispute handling. Over the next fifteen to twenty minutes I'll walk you through the problem it solves, how it's built, and a complete tour of every major screen, following the journey of a real user from registration to final review.</a:t>
            </a:r>
          </a:p>
          <a:p>
            <a:br/>
            <a:r>
              <a:t>➡ TRANSITION: Let's start with why this project needed to exist — the real-world problem behind it.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Lendora connects two kinds of people: customers who need an item temporarily, and vendors who own items and want to earn from renting them out. It's a complete full-stack system — a Next.js frontend, an Express REST API, and a MySQL database — with three distinct user roles: Customer, Vendor, and Admin. What makes it more than a simple listing site is that it manages the entire lifecycle of a rental automatically, from the moment someone books an item until their deposit is refunded weeks later. It's also fully localized — Bangladeshi Taka currency, districts and divisions for location, and local mobile payment methods like bKash and Nagad.</a:t>
            </a:r>
          </a:p>
          <a:p>
            <a:br/>
            <a:r>
              <a:t>➡ TRANSITION: To understand why we built it this way, let's look at the real-world problem first.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Think about someone who needs a professional camera for just one wedding shoot, or a sound system for a single event. Buying it makes no financial sense, yet today in Bangladesh, the only realistic option is to ask around informally — a Facebook group, a friend of a friend, a local shop. There's no way to verify who you're dealing with, no safe way to hold a security deposit, and if the item comes back late or damaged, there's no structured way to resolve it. It's entirely based on personal trust, which doesn't scale and frequently goes wrong.</a:t>
            </a:r>
          </a:p>
          <a:p>
            <a:br/>
            <a:r>
              <a:t>➡ TRANSITION: These exact pain points shaped the objectives we set for this project.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From that problem, we defined six concrete objectives. First, replace informal arrangements with a structured digital platform. Second, automate the rental lifecycle so every booking has a clear, trackable status. Third, protect both sides financially with a deposit the platform itself holds. Fourth — and this is one of the more technically interesting parts of the project — automatically detect when an item is returned late and deduct a fee, without any human stepping in. Fifth, give an admin role the tools to verify users and resolve disputes. And finally, build trust over time through reviews, in both directions — customers rating vendors and vendors rating customers.</a:t>
            </a:r>
          </a:p>
          <a:p>
            <a:br/>
            <a:r>
              <a:t>➡ TRANSITION: Before detailing our solution, let's briefly examine what's already out there.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Looking at what already exists: Facebook Marketplace and local groups have zero verification or deposit protection. Physical rental shops still rely on manual paperwork and cash deposits with no digital record. General classifieds platforms like Bikroy are designed for one-time sales, not a recurring rent-and-return relationship — they have no concept of a deposit, a late fee, or a damage claim. Critically, none of them give an ordinary person the tools to become an organized rental vendor with proper payouts and commission tracking. That gap is exactly what Lendora is built to fill.</a:t>
            </a:r>
          </a:p>
          <a:p>
            <a:br/>
            <a:r>
              <a:t>➡ TRANSITION: This is exactly the gap our proposed solution fills.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Lendora's solution is purpose-built around the rental cycle, not adapted from a generic e-commerce template. Every vendor is verified by an admin before they can list anything. Every rental moves through a well-defined sequence of statuses, and those transitions are automated wherever possible. The deposit is held by the platform itself, and — uniquely — late fees are deducted automatically in real time, while damage is escalated to admin review. On top of that, a two-way review system and full admin dashboards keep everything transparent. And the payment flow, while running in demo mode for safety, mirrors exactly how a real bKash or Nagad integration would work.</a:t>
            </a:r>
          </a:p>
          <a:p>
            <a:br/>
            <a:r>
              <a:t>➡ TRANSITION: Let's look at how this is technically built before diving into the user experience.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Architecturally, the system is split into clean layers. The browser talks to a Next.js frontend, which calls a REST API built with Express. Inside that API, we follow Clean Architecture: HTTP routes never touch the database directly — they call use-case classes that contain the actual business rules, and those use-cases talk to repository classes that handle data access through Prisma into MySQL. Redis sits alongside for caching. Both the frontend and backend live in one monorepo and share a single TypeScript package for types and business constants, so the two sides can never drift out of sync. In production, Nginx sits in front for HTTPS, rate limiting, and caching.</a:t>
            </a:r>
          </a:p>
          <a:p>
            <a:br/>
            <a:r>
              <a:t>➡ TRANSITION: Now the specific tools and frameworks that make this architecture work.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 the frontend, we use Next.js 15 with React and TypeScript, styled with Tailwind CSS, with TanStack Query handling all server-state and caching, and Zustand for lightweight client state like the logged-in user. The backend is Node.js and Express, also fully in TypeScript, with Prisma 6 as the ORM layer over MySQL, and Redis for caching. Payments are integrated against bKash and Nagad gateway patterns in demo mode. And for tooling, the whole project is a pnpm and Turborepo monorepo, containerized with Docker and served through Nginx, with JWT-based authentication and Zod for runtime input validation everywhere.</a:t>
            </a:r>
          </a:p>
          <a:p>
            <a:br/>
            <a:r>
              <a:t>➡ TRANSITION: With the technical foundation clear, let's meet the people who actually use this system.</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platform has three roles. The Customer browses, books, pays, tracks their delivery, returns the item, and leaves a review. The Vendor lists products, decides whether to accept or decline rental requests, manages pickup and return addresses, dispatches items, and receives payouts. The Admin sits above both — verifying new accounts, moderating listings, resolving disputes and damage claims, and monitoring the entire platform's health. Importantly, these aren't just UI labels — every single action is checked server-side through JWT authentication and role-based authorization middleware, so a customer account can never call a vendor-only or admin-only endpoint.</a:t>
            </a:r>
          </a:p>
          <a:p>
            <a:br/>
            <a:r>
              <a:t>➡ TRANSITION: Let's now walk through the system exactly as a user would experience it — starting with the homepage.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first thing anyone sees. The hero section pitches the platform and has an immediate search bar, below it are category shortcuts for quick browsing, then a row of featured or trending items, a short "How It Works" explainer for first-time visitors, and highlights of top-rated vendors to build trust before anyone even signs up. From here, a visitor can go straight into browsing as a guest, or commit to one of two paths — register as a customer to rent something, or register as a vendor to start listing items.</a:t>
            </a:r>
          </a:p>
          <a:p>
            <a:br/>
            <a:r>
              <a:t>➡ TRANSITION: From the homepage, a new seller would click 'Become a Vendor' — let's see that flow.</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Vendor sign-up is intentionally more than a simple form — because vendors will be handling other people's deposits and earning payouts, we collect their business name and description, their district and division for location-based search, and a bKash number that will later receive their earnings. Once submitted, the account doesn't go live immediately — it's created with a Pending Verification status and queued for admin review. This is the first line of defense against fraudulent or low-quality vendors.</a:t>
            </a:r>
          </a:p>
          <a:p>
            <a:br/>
            <a:r>
              <a:t>➡ TRANSITION: Meanwhile, a regular customer signs up through a much simpler flow.</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By contrast, customer registration is deliberately lightweight — name, email, phone number, and a password — because the barrier to becoming a renter should be low. After registering and verifying their account, the customer is taken straight to their personal dashboard. Both this flow and the vendor flow we just saw, however, share one common checkpoint before full trust is granted.</a:t>
            </a:r>
          </a:p>
          <a:p>
            <a:br/>
            <a:r>
              <a:t>➡ TRANSITION: Both new vendors and customers pass through one common checkpoint: admin verification.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gatekeeping step for the entire platform. The admin sees every pending vendor and customer application in one queue, with all the details they submitted at registration. From here, the admin can approve an application — instantly activating that account — or reject it with a reason, which the user is notified about. This single screen is what prevents Lendora from degrading into the same unverified chaos as Facebook Marketplace.</a:t>
            </a:r>
          </a:p>
          <a:p>
            <a:br/>
            <a:r>
              <a:t>➡ TRANSITION: With their account approved, let's enter the vendor's home base — the Seller Dashboard.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Once approved, this dashboard becomes the vendor's daily home base. At a glance they see how many rentals they've completed, total earnings, their average customer rating, and how quickly they respond to requests. Below that sits the queue of pending rental requests needing a decision, and a snapshot of their current product listings. Everything a vendor needs to run their rental business day-to-day is reachable from this one screen.</a:t>
            </a:r>
          </a:p>
          <a:p>
            <a:br/>
            <a:r>
              <a:t>➡ TRANSITION: Let's see how a vendor lists a product for rent.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Listing a product is straightforward but thorough — the vendor sets pricing per day, week, or month, defines a security deposit amount appropriate to the item's value, describes its condition, uploads photos, and chooses which delivery methods they support: customer pickup, courier, or both. Just like new accounts, new products don't go live instantly — they're queued for admin review to keep listing quality consistent across the marketplace.</a:t>
            </a:r>
          </a:p>
          <a:p>
            <a:br/>
            <a:r>
              <a:t>➡ TRANSITION: Now switching to the customer's side of the journey — their dashboard.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customer's dashboard mirrors the homepage in spirit but personalizes it — right away they see how many rentals are active, pending, or completed, alongside the usual featured items and categories. It's designed so a returning customer can immediately check on an in-progress rental without digging through menus, while still encouraging further browsing.</a:t>
            </a:r>
          </a:p>
          <a:p>
            <a:br/>
            <a:r>
              <a:t>➡ TRANSITION: Let's look at that marketplace in detail.</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core discovery screen. Customers can search by keyword, filter by category, price range, district, or delivery option, and sort results. Each card shows the price, rating, and key delivery information up front, so customers can compare options before clicking in. This is where the platform's real value is felt — dozens of verified vendors' products, browsable from one place instead of scattered across informal groups.</a:t>
            </a:r>
          </a:p>
          <a:p>
            <a:br/>
            <a:r>
              <a:t>➡ TRANSITION: Once a customer picks an item, here's how they actually request to rent it.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page does the heavy lifting of turning a browsing decision into an actual booking. The customer picks a date range — which is validated in real time against existing bookings to prevent double-booking — chooses pickup or courier delivery, and instantly sees a full price breakdown covering the rental fee, the refundable deposit, and any delivery charge. Submitting doesn't charge anything yet — it creates a pending request that the vendor must first approve.</a:t>
            </a:r>
          </a:p>
          <a:p>
            <a:br/>
            <a:r>
              <a:t>➡ TRANSITION: Now back to the vendor, who must approve or decline this request.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booking requires explicit vendor approval — nothing is auto-confirmed. The vendor reviews who's renting, the dates, and the price breakdown, then chooses to Accept, Decline, or Reject with a reason the customer will see. For pickup deliveries, accepting also means providing the exact pickup address, and — one of the small but genuinely useful details in this project — a single checkbox to mark the return address as "same as pickup," since that's the most common case.</a:t>
            </a:r>
          </a:p>
          <a:p>
            <a:br/>
            <a:r>
              <a:t>➡ TRANSITION: With the rental confirmed, the customer now completes payment.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Payment is where money actually changes hands — in this academic build, through a safe demo bKash flow rather than a live gateway, but the breakdown and confirmation steps mirror exactly how a production integration would behave. The customer sees the same fee breakdown from the rent page one more time before confirming, and on success, formal Payment and Deposit records are created in the database, and the vendor is notified that it's time to prepare the item.</a:t>
            </a:r>
          </a:p>
          <a:p>
            <a:br/>
            <a:r>
              <a:t>➡ TRANSITION: Next, the item physically changes hands — let's look at delivery.</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Delivery is handled differently depending on the method chosen earlier. For courier orders, the vendor records a shipment method and tracking number; for pickup orders, the vendor simply marks the item ready, and later confirms once the customer has physically collected it. From the customer's side, they confirm receipt or collection themselves. Only once that confirmation happens does the rental formally become Active — meaning the clock the customer is renting against has now started.</a:t>
            </a:r>
          </a:p>
          <a:p>
            <a:br/>
            <a:r>
              <a:t>➡ TRANSITION: This naturally leads to one of the project's most unique features — the automatic late-return system.</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feature I'm most proud of in this project. Instead of vendors having to manually chase down late returns and negotiate a penalty, the backend automatically detects when a rental has passed its expected return date, flips its status to Overdue, and starts deducting a late fee straight from the held deposit — crediting it to the vendor's wallet in real time. The customer sees a clear red warning with exactly how many days late they are, the daily charge, the total fee taken so far, and what's left of their deposit. An admin retains the ability to manually adjust this fee for special cases. It completely removes the awkward, unstructured negotiation that happens in informal rentals today.</a:t>
            </a:r>
          </a:p>
          <a:p>
            <a:br/>
            <a:r>
              <a:t>➡ TRANSITION: Let's see that return process.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When the customer is done with the item, they initiate a return — the system already knows the appropriate return method based on how it was delivered originally. The vendor then inspects the returned item and records its condition. If everything is fine, the rental can complete immediately. If there's damage, it doesn't get resolved on the spot — it's escalated into a formal admin review process, which we'll look at next.</a:t>
            </a:r>
          </a:p>
          <a:p>
            <a:br/>
            <a:r>
              <a:t>➡ TRANSITION: Let's look at what happens when the item comes back damaged.</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Damage disputes are exactly where an informal rental arrangement usually breaks down, so we built a deliberate, evidence-based process for it. The vendor uploads photos and describes the damage along with a claimed deduction amount, and this goes into an admin review queue rather than being decided unilaterally by the vendor. One subtle but important engineering detail: if the rental was also returned late, that late fee was already automatically deducted earlier, so the admin's damage resolution is calculated on top of that without double-charging the customer.</a:t>
            </a:r>
          </a:p>
          <a:p>
            <a:br/>
            <a:r>
              <a:t>➡ TRANSITION: Which brings us to how that deposit actually gets refunded.</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financial closing step for the customer. Whatever is left of the deposit after any late fee and any approved damage deduction is refunded, and the customer can see exactly how that final number was reached — full transparency, no surprises. At this point the rental's status is formally marked Completed. But the customer's side of the money isn't the whole picture — let's look at what the vendor and the platform each take from this transaction.</a:t>
            </a:r>
          </a:p>
          <a:p>
            <a:br/>
            <a:r>
              <a:t>➡ TRANSITION: Let's break down exactly how the platform calculates everyone's share of the money.</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completed rental triggers an automatic commission split. The platform takes a small two percent cut of the rental fee, and the rest is credited to the vendor's payout wallet. Crucially, any late fees or approved damage deductions are credited to the vendor on top of that, completely separate from the customer's deposit refund — so the two money flows never get mixed up. Vendors can track every payout's status, and admins can see total commission revenue across the entire platform at any time.</a:t>
            </a:r>
          </a:p>
          <a:p>
            <a:br/>
            <a:r>
              <a:t>➡ TRANSITION: Let's look at the review and rating system that closes the loop.</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Trust doesn't end when the money is settled — it's built over time through reviews. Once a rental completes, the customer can leave a star rating and written review of the vendor, which the vendor can publicly reply to. Less commonly seen, but just as important: the vendor also privately rates the customer's behavior — were they on time, careful with the item, easy to communicate with? These ratings feed straight back into the vendor profiles customers see while browsing, which closes the trust loop for the next renter.</a:t>
            </a:r>
          </a:p>
          <a:p>
            <a:br/>
            <a:r>
              <a:t>➡ TRANSITION: Zooming out, here's how the Admin oversees the entire platform.</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admin's bird's-eye view of the entire platform — total users, vendors, products, and rentals, broken down by status, alongside total commission revenue and any open disputes. From here, the admin can drill into any specific list — every rental, every vendor, every overdue case — and take direct action. Having walked through every screen a customer or vendor would see, this dashboard is effectively the control tower tying the whole system together.</a:t>
            </a:r>
          </a:p>
          <a:p>
            <a:br/>
            <a:r>
              <a:t>➡ TRANSITION: Having seen every screen, let's now look under the hood at how the data is structured.</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Underneath all of this sits a relational schema of roughly twenty normalized tables in MySQL, accessed through Prisma, which gives us fully type-safe database queries shared all the way up into the API layer. Rental is the hub table — almost everything else hangs off it: a User has one VendorProfile, which owns many Products, each of which can have many Rentals; each Rental in turn has many Payments, exactly one ReturnRecord, and potentially many LateFeeTransaction entries from our automatic fee engine. Around that hub sit supporting tables for payouts, reviews, disputes, and notifications.</a:t>
            </a:r>
          </a:p>
          <a:p>
            <a:br/>
            <a:r>
              <a:t>➡ TRANSITION: With the data model covered, let's talk about how we keep all of this secure.</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Security was treated as a first-class concern, not an afterthought. Authentication uses short-lived JWT access tokens paired with refresh tokens, and every password is hashed with bcrypt before it ever touches the database. Every protected API route runs through role-based authorization middleware, so a Customer token simply cannot call a Vendor- or Admin-only endpoint, no matter what the frontend shows. Every request body is validated against a Zod schema before it's trusted. And at the network layer, we have rate limiting, Helmet security headers, HTTPS termination through Nginx in production, and strict validation on every uploaded file.</a:t>
            </a:r>
          </a:p>
          <a:p>
            <a:br/>
            <a:r>
              <a:t>➡ TRANSITION: Let's visualize the complete workflow end-to-end before discussing what makes this project stand out.</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Putting every screen we just saw into one continuous flow: a user registers and gets verified, browses the marketplace, requests a rental, the vendor approves it, the customer pays through the demo bKash flow, the item is delivered or picked up, the rental goes active while our automatic late-fee system silently watches the due date, the item is returned and inspected, the deposit is refunded and commission is calculated, and finally both sides leave reviews. Every one of these ten steps is a real, working screen in the application — this isn't a conceptual diagram, it's exactly what we just demonstrated.</a:t>
            </a:r>
          </a:p>
          <a:p>
            <a:br/>
            <a:r>
              <a:t>➡ TRANSITION: Now, what makes Lendora different from a typical class project or a generic e-commerce clone?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few things set this project apart from a typical CRUD-style class project. The automatic late-fee engine is the standout — it requires zero manual intervention to detect an overdue rental, deduct the correct fee, and credit the vendor, all while keeping a full audit trail. The address management between pickup and return locations, with that one-click shortcut, is a small UX detail that genuinely matters for vendors handling many bookings. And underneath it all, the Clean Architecture backend isn't just theoretical — it made adding the entire late-fee feature, weeks after the rest of the system was built, a contained, low-risk change rather than a rewrite.</a:t>
            </a:r>
          </a:p>
          <a:p>
            <a:br/>
            <a:r>
              <a:t>➡ TRANSITION: Of course, building this wasn't without obstacles.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 project this size goes smoothly throughout. One real challenge was preventing two customers from booking the same item on overlapping dates — solved with row-level database locking at the moment a rental is created. A trickier one was making sure a rental that's both late and damaged doesn't get charged twice for the same money — we solved that by having the late fee deduct automatically in real time, and designing the admin's damage review to always build on top of that already-deducted amount rather than recalculating from scratch. Keeping frontend and backend types in sync was solved structurally with one shared package. And without access to a live payment gateway, we built a demo bKash flow realistic enough to demonstrate the full integration pattern.</a:t>
            </a:r>
          </a:p>
          <a:p>
            <a:br/>
            <a:r>
              <a:t>➡ TRANSITION: No system is perfect — here are the current limitations.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Being honest about scope: the payment gateway is in demo mode, not connected to a live bKash or Nagad merchant account — that requires business registration outside the scope of this project. Notifications currently live only inside the app, with no SMS or email channel yet. The system supports only Bangladeshi Taka and a single-language interface for now. There's no dedicated mobile app, though the web UI is fully responsive. And by design, some decisions — like the final damage deduction amount — are deliberately left to human admin judgment rather than fully automated, since that's the right call for disputed, evidence-based cases.</a:t>
            </a:r>
          </a:p>
          <a:p>
            <a:br/>
            <a:r>
              <a:t>➡ TRANSITION: These limitations directly map to our roadmap for future work.</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Looking ahead, the most immediate next step is replacing the demo payment flow with live gateway integrations for bKash, Nagad, and card payments. After that, SMS and email notifications would make the platform usable for people who don't have the app open constantly. Longer-term, native mobile apps using React Native, AI-assisted dynamic pricing and even automated damage detection from photos, full Bangla and English language support, and real-time chat between customers and vendors are all natural extensions of the architecture we've already built.</a:t>
            </a:r>
          </a:p>
          <a:p>
            <a:br/>
            <a:r>
              <a:t>➡ TRANSITION: To confirm the system actually works as designed, here's a summary of our testing.</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 validate the system, we ran the complete rental lifecycle manually across all three roles repeatedly, alongside automated API-level tests for critical endpoints like authentication, rental creation, and payments using Vitest and Supertest. We specifically verified edge cases — that overlapping bookings are correctly rejected, that the late fee can never exceed the deposit amount even if an item is left out for months, and that a vendor is never paid out twice for the same rental. We also tested the responsive UI across mobile, tablet, and desktop screen sizes. Every core journey — from registration through to a refunded, reviewed rental — completed successfully with no data inconsistency.</a:t>
            </a:r>
          </a:p>
          <a:p>
            <a:br/>
            <a:r>
              <a:t>➡ TRANSITION: Bringing it all together, here's what this project achieved.</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Stepping back, what we delivered is a genuinely complete, end-to-end platform — not a prototype that stops at the happy path, but a system that handles approvals, payments, deliveries, automatic late fees, damage disputes, refunds, and reviews. Logic that would normally require dedicated operations staff — calculating late fees, processing payouts, splitting commission — runs automatically. The architecture is clean enough to actually deploy and extend in the real world. And beyond the product itself, this project gave me hands-on, practical experience across the full stack — frontend, backend, database design, security, and system architecture, all working together in one cohesive build.</a:t>
            </a:r>
          </a:p>
          <a:p>
            <a:br/>
            <a:r>
              <a:t>➡ TRANSITION: Let's wrap up with a final summary.</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 conclude: Lendora takes a real, everyday problem — the lack of a trustworthy way to rent items short-term in Bangladesh — and solves it with a structured, secure, fully digital platform. Every step of the rental lifecycle, from the very first registration to the final deposit refund, is automated, tracked, and fully auditable. Beyond the product itself, this project demonstrates real engineering depth — system architecture, database design, security practices, and user experience, all working together. And because of how it's built, it's not a dead-end academic exercise — it's a genuinely solid foundation that could grow into a real product.</a:t>
            </a:r>
          </a:p>
          <a:p>
            <a:br/>
            <a:r>
              <a:t>➡ TRANSITION: Thank you — I'm happy to take your questions.</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you all for your time and attention. That concludes my presentation of Lendora — a complete, automated, multi-vendor rental marketplace built for Bangladesh. I'd now be glad to take any questions you have, whether about the architecture, the business logic, or anything you'd like to see in more detail.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169225" y="560775"/>
            <a:ext cx="6805500" cy="22956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677750" y="3231851"/>
            <a:ext cx="5788500" cy="669000"/>
          </a:xfrm>
          <a:prstGeom prst="rect">
            <a:avLst/>
          </a:prstGeom>
          <a:ln>
            <a:noFill/>
          </a:ln>
        </p:spPr>
        <p:txBody>
          <a:bodyPr anchorCtr="0" anchor="t" bIns="91425" lIns="91425" spcFirstLastPara="1" rIns="91425" wrap="square" tIns="91425">
            <a:noAutofit/>
          </a:bodyPr>
          <a:lstStyle>
            <a:lvl1pPr lvl="0" algn="ctr">
              <a:lnSpc>
                <a:spcPct val="90000"/>
              </a:lnSpc>
              <a:spcBef>
                <a:spcPts val="75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450421" y="-383841"/>
            <a:ext cx="1507871" cy="1510263"/>
            <a:chOff x="39184" y="-151930"/>
            <a:chExt cx="1309825" cy="1311903"/>
          </a:xfrm>
        </p:grpSpPr>
        <p:sp>
          <p:nvSpPr>
            <p:cNvPr id="12" name="Google Shape;12;p2"/>
            <p:cNvSpPr/>
            <p:nvPr/>
          </p:nvSpPr>
          <p:spPr>
            <a:xfrm>
              <a:off x="1304909" y="54495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1105499" y="62891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1034132" y="70028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1046726" y="572240"/>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975359" y="643608"/>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775949" y="727570"/>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717176" y="66879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647907" y="740164"/>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
            <p:cNvSpPr/>
            <p:nvPr/>
          </p:nvSpPr>
          <p:spPr>
            <a:xfrm>
              <a:off x="389725" y="765353"/>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
            <p:cNvSpPr/>
            <p:nvPr/>
          </p:nvSpPr>
          <p:spPr>
            <a:xfrm>
              <a:off x="899793" y="13983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
            <p:cNvSpPr/>
            <p:nvPr/>
          </p:nvSpPr>
          <p:spPr>
            <a:xfrm>
              <a:off x="828425" y="21120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841020" y="81064"/>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641610" y="167125"/>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
            <p:cNvSpPr/>
            <p:nvPr/>
          </p:nvSpPr>
          <p:spPr>
            <a:xfrm>
              <a:off x="570243" y="23639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
            <p:cNvSpPr/>
            <p:nvPr/>
          </p:nvSpPr>
          <p:spPr>
            <a:xfrm>
              <a:off x="582837" y="10835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
            <p:cNvSpPr/>
            <p:nvPr/>
          </p:nvSpPr>
          <p:spPr>
            <a:xfrm>
              <a:off x="511469" y="179719"/>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
            <p:cNvSpPr/>
            <p:nvPr/>
          </p:nvSpPr>
          <p:spPr>
            <a:xfrm>
              <a:off x="312060" y="263681"/>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
            <p:cNvSpPr/>
            <p:nvPr/>
          </p:nvSpPr>
          <p:spPr>
            <a:xfrm>
              <a:off x="255386" y="204908"/>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184018" y="276275"/>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 name="Google Shape;129;p2"/>
          <p:cNvGrpSpPr/>
          <p:nvPr/>
        </p:nvGrpSpPr>
        <p:grpSpPr>
          <a:xfrm flipH="1">
            <a:off x="8057468" y="4108382"/>
            <a:ext cx="1507871" cy="1510263"/>
            <a:chOff x="39184" y="-151930"/>
            <a:chExt cx="1309825" cy="1311903"/>
          </a:xfrm>
        </p:grpSpPr>
        <p:sp>
          <p:nvSpPr>
            <p:cNvPr id="130" name="Google Shape;130;p2"/>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2"/>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2"/>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2"/>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2"/>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7" name="Shape 247"/>
        <p:cNvGrpSpPr/>
        <p:nvPr/>
      </p:nvGrpSpPr>
      <p:grpSpPr>
        <a:xfrm>
          <a:off x="0" y="0"/>
          <a:ext cx="0" cy="0"/>
          <a:chOff x="0" y="0"/>
          <a:chExt cx="0" cy="0"/>
        </a:xfrm>
      </p:grpSpPr>
      <p:sp>
        <p:nvSpPr>
          <p:cNvPr id="248" name="Google Shape;248;p3"/>
          <p:cNvSpPr/>
          <p:nvPr/>
        </p:nvSpPr>
        <p:spPr>
          <a:xfrm>
            <a:off x="723900" y="862425"/>
            <a:ext cx="1257300" cy="968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249" name="Google Shape;249;p3"/>
          <p:cNvSpPr txBox="1"/>
          <p:nvPr>
            <p:ph type="title"/>
          </p:nvPr>
        </p:nvSpPr>
        <p:spPr>
          <a:xfrm>
            <a:off x="629525" y="1989775"/>
            <a:ext cx="7463100" cy="1224600"/>
          </a:xfrm>
          <a:prstGeom prst="rect">
            <a:avLst/>
          </a:prstGeom>
          <a:ln>
            <a:noFill/>
          </a:ln>
        </p:spPr>
        <p:txBody>
          <a:bodyPr anchorCtr="0" anchor="b" bIns="91425" lIns="91425" spcFirstLastPara="1" rIns="91425" wrap="square" tIns="91425">
            <a:noAutofit/>
          </a:bodyPr>
          <a:lstStyle>
            <a:lvl1pPr lvl="0">
              <a:lnSpc>
                <a:spcPct val="90000"/>
              </a:lnSpc>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0" name="Google Shape;250;p3"/>
          <p:cNvSpPr txBox="1"/>
          <p:nvPr>
            <p:ph hasCustomPrompt="1" idx="2" type="title"/>
          </p:nvPr>
        </p:nvSpPr>
        <p:spPr>
          <a:xfrm>
            <a:off x="723900" y="862425"/>
            <a:ext cx="1257300" cy="968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1" name="Google Shape;251;p3"/>
          <p:cNvSpPr txBox="1"/>
          <p:nvPr>
            <p:ph idx="1" type="subTitle"/>
          </p:nvPr>
        </p:nvSpPr>
        <p:spPr>
          <a:xfrm>
            <a:off x="629525" y="3141225"/>
            <a:ext cx="7463100" cy="4497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252" name="Google Shape;252;p3"/>
          <p:cNvGrpSpPr/>
          <p:nvPr/>
        </p:nvGrpSpPr>
        <p:grpSpPr>
          <a:xfrm>
            <a:off x="-36383" y="-155066"/>
            <a:ext cx="9557011" cy="5716646"/>
            <a:chOff x="-36383" y="-155066"/>
            <a:chExt cx="9557011" cy="5716646"/>
          </a:xfrm>
        </p:grpSpPr>
        <p:grpSp>
          <p:nvGrpSpPr>
            <p:cNvPr id="253" name="Google Shape;253;p3"/>
            <p:cNvGrpSpPr/>
            <p:nvPr/>
          </p:nvGrpSpPr>
          <p:grpSpPr>
            <a:xfrm rot="10800000">
              <a:off x="7204195" y="-155066"/>
              <a:ext cx="2187094" cy="2789634"/>
              <a:chOff x="3700202" y="2700338"/>
              <a:chExt cx="1654132" cy="2109842"/>
            </a:xfrm>
          </p:grpSpPr>
          <p:sp>
            <p:nvSpPr>
              <p:cNvPr id="254" name="Google Shape;254;p3"/>
              <p:cNvSpPr/>
              <p:nvPr/>
            </p:nvSpPr>
            <p:spPr>
              <a:xfrm>
                <a:off x="3700202" y="2700338"/>
                <a:ext cx="1654132" cy="2109842"/>
              </a:xfrm>
              <a:custGeom>
                <a:rect b="b" l="l" r="r" t="t"/>
                <a:pathLst>
                  <a:path extrusionOk="0" h="63780" w="50004">
                    <a:moveTo>
                      <a:pt x="50004" y="50004"/>
                    </a:moveTo>
                    <a:lnTo>
                      <a:pt x="0" y="0"/>
                    </a:lnTo>
                    <a:lnTo>
                      <a:pt x="79" y="29993"/>
                    </a:lnTo>
                    <a:lnTo>
                      <a:pt x="33867" y="63780"/>
                    </a:lnTo>
                    <a:lnTo>
                      <a:pt x="50001" y="63703"/>
                    </a:lnTo>
                    <a:lnTo>
                      <a:pt x="50004" y="50004"/>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
              <p:cNvSpPr/>
              <p:nvPr/>
            </p:nvSpPr>
            <p:spPr>
              <a:xfrm>
                <a:off x="3703377" y="3690938"/>
                <a:ext cx="1117623" cy="1117589"/>
              </a:xfrm>
              <a:custGeom>
                <a:rect b="b" l="l" r="r" t="t"/>
                <a:pathLst>
                  <a:path extrusionOk="0" h="33787" w="33788">
                    <a:moveTo>
                      <a:pt x="0" y="0"/>
                    </a:moveTo>
                    <a:lnTo>
                      <a:pt x="33788" y="33787"/>
                    </a:lnTo>
                    <a:lnTo>
                      <a:pt x="36" y="33751"/>
                    </a:lnTo>
                    <a:lnTo>
                      <a:pt x="0" y="0"/>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
              <p:cNvSpPr/>
              <p:nvPr/>
            </p:nvSpPr>
            <p:spPr>
              <a:xfrm>
                <a:off x="4057390" y="3656013"/>
                <a:ext cx="935041" cy="652454"/>
              </a:xfrm>
              <a:custGeom>
                <a:rect b="b" l="l" r="r" t="t"/>
                <a:pathLst>
                  <a:path extrusionOk="0" h="19728" w="28281">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3"/>
              <p:cNvSpPr/>
              <p:nvPr/>
            </p:nvSpPr>
            <p:spPr>
              <a:xfrm>
                <a:off x="3746240" y="3967163"/>
                <a:ext cx="935041" cy="652471"/>
              </a:xfrm>
              <a:custGeom>
                <a:rect b="b" l="l" r="r" t="t"/>
                <a:pathLst>
                  <a:path extrusionOk="0" h="19727" w="28281">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rgbClr val="F0EBE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
              <p:cNvSpPr/>
              <p:nvPr/>
            </p:nvSpPr>
            <p:spPr>
              <a:xfrm>
                <a:off x="4128827" y="3976688"/>
                <a:ext cx="401633" cy="401633"/>
              </a:xfrm>
              <a:custGeom>
                <a:rect b="b" l="l" r="r" t="t"/>
                <a:pathLst>
                  <a:path extrusionOk="0" h="12133" w="12133">
                    <a:moveTo>
                      <a:pt x="2647" y="9486"/>
                    </a:moveTo>
                    <a:cubicBezTo>
                      <a:pt x="5261" y="12100"/>
                      <a:pt x="9471" y="12133"/>
                      <a:pt x="12133" y="9597"/>
                    </a:cubicBezTo>
                    <a:lnTo>
                      <a:pt x="2536" y="0"/>
                    </a:lnTo>
                    <a:cubicBezTo>
                      <a:pt x="0" y="2662"/>
                      <a:pt x="33" y="6872"/>
                      <a:pt x="2647" y="9486"/>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
              <p:cNvSpPr/>
              <p:nvPr/>
            </p:nvSpPr>
            <p:spPr>
              <a:xfrm>
                <a:off x="4211377" y="3895725"/>
                <a:ext cx="401633" cy="401633"/>
              </a:xfrm>
              <a:custGeom>
                <a:rect b="b" l="l" r="r" t="t"/>
                <a:pathLst>
                  <a:path extrusionOk="0" h="12133" w="12133">
                    <a:moveTo>
                      <a:pt x="9486" y="2647"/>
                    </a:moveTo>
                    <a:cubicBezTo>
                      <a:pt x="6872" y="33"/>
                      <a:pt x="2662" y="0"/>
                      <a:pt x="0" y="2536"/>
                    </a:cubicBezTo>
                    <a:lnTo>
                      <a:pt x="9597" y="12133"/>
                    </a:lnTo>
                    <a:cubicBezTo>
                      <a:pt x="12133" y="9471"/>
                      <a:pt x="12100" y="5261"/>
                      <a:pt x="9486" y="2647"/>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0" name="Google Shape;260;p3"/>
            <p:cNvSpPr/>
            <p:nvPr/>
          </p:nvSpPr>
          <p:spPr>
            <a:xfrm rot="5400000">
              <a:off x="7874" y="3678747"/>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1" name="Google Shape;261;p3"/>
            <p:cNvGrpSpPr/>
            <p:nvPr/>
          </p:nvGrpSpPr>
          <p:grpSpPr>
            <a:xfrm>
              <a:off x="-36383" y="4107925"/>
              <a:ext cx="1658229" cy="1282495"/>
              <a:chOff x="5136226" y="2246221"/>
              <a:chExt cx="1254144" cy="969970"/>
            </a:xfrm>
          </p:grpSpPr>
          <p:sp>
            <p:nvSpPr>
              <p:cNvPr id="262" name="Google Shape;262;p3"/>
              <p:cNvSpPr/>
              <p:nvPr/>
            </p:nvSpPr>
            <p:spPr>
              <a:xfrm>
                <a:off x="5448964" y="2246221"/>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3"/>
              <p:cNvSpPr/>
              <p:nvPr/>
            </p:nvSpPr>
            <p:spPr>
              <a:xfrm>
                <a:off x="5136226" y="2558958"/>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
              <p:cNvSpPr/>
              <p:nvPr/>
            </p:nvSpPr>
            <p:spPr>
              <a:xfrm>
                <a:off x="5521989" y="2570071"/>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
              <p:cNvSpPr/>
              <p:nvPr/>
            </p:nvSpPr>
            <p:spPr>
              <a:xfrm>
                <a:off x="5604539" y="2487521"/>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6" name="Google Shape;266;p3"/>
            <p:cNvGrpSpPr/>
            <p:nvPr/>
          </p:nvGrpSpPr>
          <p:grpSpPr>
            <a:xfrm flipH="1">
              <a:off x="8012757" y="4051317"/>
              <a:ext cx="1507871" cy="1510263"/>
              <a:chOff x="39184" y="-151930"/>
              <a:chExt cx="1309825" cy="1311903"/>
            </a:xfrm>
          </p:grpSpPr>
          <p:sp>
            <p:nvSpPr>
              <p:cNvPr id="267" name="Google Shape;267;p3"/>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3"/>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3"/>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3"/>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3"/>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3"/>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3"/>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3"/>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3"/>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3"/>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3"/>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3"/>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3"/>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3"/>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3"/>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3"/>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3"/>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3"/>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3"/>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3"/>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3"/>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3"/>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3"/>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3"/>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3"/>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3"/>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3"/>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3"/>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3"/>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3"/>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3"/>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3"/>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3"/>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3"/>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3"/>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3"/>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3"/>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3"/>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3"/>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3"/>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3"/>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3"/>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3"/>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3"/>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3"/>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3"/>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3"/>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3"/>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3"/>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3"/>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3"/>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3"/>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4" name="Shape 384"/>
        <p:cNvGrpSpPr/>
        <p:nvPr/>
      </p:nvGrpSpPr>
      <p:grpSpPr>
        <a:xfrm>
          <a:off x="0" y="0"/>
          <a:ext cx="0" cy="0"/>
          <a:chOff x="0" y="0"/>
          <a:chExt cx="0" cy="0"/>
        </a:xfrm>
      </p:grpSpPr>
      <p:sp>
        <p:nvSpPr>
          <p:cNvPr id="385" name="Google Shape;385;p4"/>
          <p:cNvSpPr txBox="1"/>
          <p:nvPr>
            <p:ph type="title"/>
          </p:nvPr>
        </p:nvSpPr>
        <p:spPr>
          <a:xfrm>
            <a:off x="720000" y="523275"/>
            <a:ext cx="7704000" cy="668400"/>
          </a:xfrm>
          <a:prstGeom prst="rect">
            <a:avLst/>
          </a:prstGeom>
          <a:ln>
            <a:noFill/>
          </a:ln>
        </p:spPr>
        <p:txBody>
          <a:bodyPr anchorCtr="0" anchor="t"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86" name="Google Shape;386;p4"/>
          <p:cNvSpPr txBox="1"/>
          <p:nvPr>
            <p:ph idx="1" type="body"/>
          </p:nvPr>
        </p:nvSpPr>
        <p:spPr>
          <a:xfrm>
            <a:off x="720000" y="1152475"/>
            <a:ext cx="7704000" cy="1057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Arial"/>
              <a:buChar char="•"/>
              <a:defRPr sz="1200">
                <a:solidFill>
                  <a:srgbClr val="434343"/>
                </a:solidFill>
              </a:defRPr>
            </a:lvl1pPr>
            <a:lvl2pPr indent="-317500" lvl="1" marL="914400" rtl="0">
              <a:lnSpc>
                <a:spcPct val="115000"/>
              </a:lnSpc>
              <a:spcBef>
                <a:spcPts val="0"/>
              </a:spcBef>
              <a:spcAft>
                <a:spcPts val="0"/>
              </a:spcAft>
              <a:buClr>
                <a:srgbClr val="000000"/>
              </a:buClr>
              <a:buSzPts val="1400"/>
              <a:buFont typeface="Arial"/>
              <a:buChar char="○"/>
              <a:defRPr>
                <a:solidFill>
                  <a:srgbClr val="434343"/>
                </a:solidFill>
              </a:defRPr>
            </a:lvl2pPr>
            <a:lvl3pPr indent="-317500" lvl="2" marL="1371600" rtl="0">
              <a:lnSpc>
                <a:spcPct val="115000"/>
              </a:lnSpc>
              <a:spcBef>
                <a:spcPts val="0"/>
              </a:spcBef>
              <a:spcAft>
                <a:spcPts val="0"/>
              </a:spcAft>
              <a:buClr>
                <a:srgbClr val="000000"/>
              </a:buClr>
              <a:buSzPts val="1400"/>
              <a:buFont typeface="Arial"/>
              <a:buChar char="■"/>
              <a:defRPr>
                <a:solidFill>
                  <a:srgbClr val="434343"/>
                </a:solidFill>
              </a:defRPr>
            </a:lvl3pPr>
            <a:lvl4pPr indent="-317500" lvl="3" marL="1828800" rtl="0">
              <a:lnSpc>
                <a:spcPct val="115000"/>
              </a:lnSpc>
              <a:spcBef>
                <a:spcPts val="0"/>
              </a:spcBef>
              <a:spcAft>
                <a:spcPts val="0"/>
              </a:spcAft>
              <a:buClr>
                <a:srgbClr val="000000"/>
              </a:buClr>
              <a:buSzPts val="1400"/>
              <a:buFont typeface="Arial"/>
              <a:buChar char="●"/>
              <a:defRPr>
                <a:solidFill>
                  <a:srgbClr val="434343"/>
                </a:solidFill>
              </a:defRPr>
            </a:lvl4pPr>
            <a:lvl5pPr indent="-317500" lvl="4" marL="2286000" rtl="0">
              <a:lnSpc>
                <a:spcPct val="115000"/>
              </a:lnSpc>
              <a:spcBef>
                <a:spcPts val="0"/>
              </a:spcBef>
              <a:spcAft>
                <a:spcPts val="0"/>
              </a:spcAft>
              <a:buClr>
                <a:srgbClr val="000000"/>
              </a:buClr>
              <a:buSzPts val="1400"/>
              <a:buFont typeface="Arial"/>
              <a:buChar char="○"/>
              <a:defRPr>
                <a:solidFill>
                  <a:srgbClr val="434343"/>
                </a:solidFill>
              </a:defRPr>
            </a:lvl5pPr>
            <a:lvl6pPr indent="-317500" lvl="5" marL="2743200" rtl="0">
              <a:lnSpc>
                <a:spcPct val="115000"/>
              </a:lnSpc>
              <a:spcBef>
                <a:spcPts val="0"/>
              </a:spcBef>
              <a:spcAft>
                <a:spcPts val="0"/>
              </a:spcAft>
              <a:buClr>
                <a:srgbClr val="000000"/>
              </a:buClr>
              <a:buSzPts val="1400"/>
              <a:buFont typeface="Arial"/>
              <a:buChar char="■"/>
              <a:defRPr>
                <a:solidFill>
                  <a:srgbClr val="434343"/>
                </a:solidFill>
              </a:defRPr>
            </a:lvl6pPr>
            <a:lvl7pPr indent="-317500" lvl="6" marL="3200400" rtl="0">
              <a:lnSpc>
                <a:spcPct val="115000"/>
              </a:lnSpc>
              <a:spcBef>
                <a:spcPts val="0"/>
              </a:spcBef>
              <a:spcAft>
                <a:spcPts val="0"/>
              </a:spcAft>
              <a:buClr>
                <a:srgbClr val="000000"/>
              </a:buClr>
              <a:buSzPts val="1400"/>
              <a:buFont typeface="Arial"/>
              <a:buChar char="●"/>
              <a:defRPr>
                <a:solidFill>
                  <a:srgbClr val="434343"/>
                </a:solidFill>
              </a:defRPr>
            </a:lvl7pPr>
            <a:lvl8pPr indent="-317500" lvl="7" marL="3657600" rtl="0">
              <a:lnSpc>
                <a:spcPct val="115000"/>
              </a:lnSpc>
              <a:spcBef>
                <a:spcPts val="0"/>
              </a:spcBef>
              <a:spcAft>
                <a:spcPts val="0"/>
              </a:spcAft>
              <a:buClr>
                <a:srgbClr val="000000"/>
              </a:buClr>
              <a:buSzPts val="1400"/>
              <a:buFont typeface="Arial"/>
              <a:buChar char="○"/>
              <a:defRPr>
                <a:solidFill>
                  <a:srgbClr val="434343"/>
                </a:solidFill>
              </a:defRPr>
            </a:lvl8pPr>
            <a:lvl9pPr indent="-317500" lvl="8" marL="4114800" rtl="0">
              <a:lnSpc>
                <a:spcPct val="115000"/>
              </a:lnSpc>
              <a:spcBef>
                <a:spcPts val="0"/>
              </a:spcBef>
              <a:spcAft>
                <a:spcPts val="0"/>
              </a:spcAft>
              <a:buClr>
                <a:srgbClr val="000000"/>
              </a:buClr>
              <a:buSzPts val="1400"/>
              <a:buFont typeface="Arial"/>
              <a:buChar char="■"/>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7" name="Shape 387"/>
        <p:cNvGrpSpPr/>
        <p:nvPr/>
      </p:nvGrpSpPr>
      <p:grpSpPr>
        <a:xfrm>
          <a:off x="0" y="0"/>
          <a:ext cx="0" cy="0"/>
          <a:chOff x="0" y="0"/>
          <a:chExt cx="0" cy="0"/>
        </a:xfrm>
      </p:grpSpPr>
      <p:sp>
        <p:nvSpPr>
          <p:cNvPr id="388" name="Google Shape;388;p5"/>
          <p:cNvSpPr txBox="1"/>
          <p:nvPr>
            <p:ph idx="1" type="subTitle"/>
          </p:nvPr>
        </p:nvSpPr>
        <p:spPr>
          <a:xfrm>
            <a:off x="1290750" y="2672122"/>
            <a:ext cx="2907600" cy="425700"/>
          </a:xfrm>
          <a:prstGeom prst="rect">
            <a:avLst/>
          </a:prstGeom>
        </p:spPr>
        <p:txBody>
          <a:bodyPr anchorCtr="0" anchor="t" bIns="91425" lIns="91425" spcFirstLastPara="1" rIns="91425" wrap="square" tIns="91425">
            <a:noAutofit/>
          </a:bodyPr>
          <a:lstStyle>
            <a:lvl1pPr lvl="0">
              <a:lnSpc>
                <a:spcPct val="90000"/>
              </a:lnSpc>
              <a:spcBef>
                <a:spcPts val="750"/>
              </a:spcBef>
              <a:spcAft>
                <a:spcPts val="0"/>
              </a:spcAft>
              <a:buSzPts val="2400"/>
              <a:buFont typeface="Raleway"/>
              <a:buNone/>
              <a:defRPr sz="2400">
                <a:latin typeface="Raleway ExtraBold"/>
                <a:ea typeface="Raleway ExtraBold"/>
                <a:cs typeface="Raleway ExtraBold"/>
                <a:sym typeface="Raleway Extra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89" name="Google Shape;389;p5"/>
          <p:cNvSpPr txBox="1"/>
          <p:nvPr>
            <p:ph idx="2" type="subTitle"/>
          </p:nvPr>
        </p:nvSpPr>
        <p:spPr>
          <a:xfrm>
            <a:off x="4945625" y="2672122"/>
            <a:ext cx="2907600" cy="4257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sz="2400">
                <a:latin typeface="Raleway ExtraBold"/>
                <a:ea typeface="Raleway ExtraBold"/>
                <a:cs typeface="Raleway ExtraBold"/>
                <a:sym typeface="Raleway Extra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90" name="Google Shape;390;p5"/>
          <p:cNvSpPr txBox="1"/>
          <p:nvPr>
            <p:ph idx="3" type="subTitle"/>
          </p:nvPr>
        </p:nvSpPr>
        <p:spPr>
          <a:xfrm>
            <a:off x="1290750" y="3097824"/>
            <a:ext cx="2907600" cy="11670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2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91" name="Google Shape;391;p5"/>
          <p:cNvSpPr txBox="1"/>
          <p:nvPr>
            <p:ph idx="4" type="subTitle"/>
          </p:nvPr>
        </p:nvSpPr>
        <p:spPr>
          <a:xfrm>
            <a:off x="4945625" y="3097824"/>
            <a:ext cx="2907600" cy="11670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2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92" name="Google Shape;392;p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393" name="Google Shape;393;p5"/>
          <p:cNvGrpSpPr/>
          <p:nvPr/>
        </p:nvGrpSpPr>
        <p:grpSpPr>
          <a:xfrm>
            <a:off x="-15990" y="3526515"/>
            <a:ext cx="2300520" cy="2575530"/>
            <a:chOff x="3238240" y="323850"/>
            <a:chExt cx="1739919" cy="1947912"/>
          </a:xfrm>
        </p:grpSpPr>
        <p:sp>
          <p:nvSpPr>
            <p:cNvPr id="394" name="Google Shape;394;p5"/>
            <p:cNvSpPr/>
            <p:nvPr/>
          </p:nvSpPr>
          <p:spPr>
            <a:xfrm>
              <a:off x="3238240" y="323850"/>
              <a:ext cx="1654154" cy="1947912"/>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
            <p:cNvSpPr/>
            <p:nvPr/>
          </p:nvSpPr>
          <p:spPr>
            <a:xfrm>
              <a:off x="4036753" y="947738"/>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
            <p:cNvSpPr/>
            <p:nvPr/>
          </p:nvSpPr>
          <p:spPr>
            <a:xfrm>
              <a:off x="3724015" y="1260475"/>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5"/>
            <p:cNvSpPr/>
            <p:nvPr/>
          </p:nvSpPr>
          <p:spPr>
            <a:xfrm>
              <a:off x="4109778" y="1271588"/>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
            <p:cNvSpPr/>
            <p:nvPr/>
          </p:nvSpPr>
          <p:spPr>
            <a:xfrm>
              <a:off x="4192328" y="1189038"/>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9" name="Shape 399"/>
        <p:cNvGrpSpPr/>
        <p:nvPr/>
      </p:nvGrpSpPr>
      <p:grpSpPr>
        <a:xfrm>
          <a:off x="0" y="0"/>
          <a:ext cx="0" cy="0"/>
          <a:chOff x="0" y="0"/>
          <a:chExt cx="0" cy="0"/>
        </a:xfrm>
      </p:grpSpPr>
      <p:sp>
        <p:nvSpPr>
          <p:cNvPr id="400" name="Google Shape;400;p6"/>
          <p:cNvSpPr txBox="1"/>
          <p:nvPr>
            <p:ph type="title"/>
          </p:nvPr>
        </p:nvSpPr>
        <p:spPr>
          <a:xfrm>
            <a:off x="723900" y="552450"/>
            <a:ext cx="7696200" cy="715500"/>
          </a:xfrm>
          <a:prstGeom prst="rect">
            <a:avLst/>
          </a:prstGeom>
          <a:ln>
            <a:noFill/>
          </a:ln>
        </p:spPr>
        <p:txBody>
          <a:bodyPr anchorCtr="0" anchor="ctr"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401" name="Google Shape;401;p6"/>
          <p:cNvGrpSpPr/>
          <p:nvPr/>
        </p:nvGrpSpPr>
        <p:grpSpPr>
          <a:xfrm>
            <a:off x="-426172" y="-639686"/>
            <a:ext cx="10263181" cy="6395837"/>
            <a:chOff x="-426172" y="-639686"/>
            <a:chExt cx="10263181" cy="6395837"/>
          </a:xfrm>
        </p:grpSpPr>
        <p:sp>
          <p:nvSpPr>
            <p:cNvPr id="402" name="Google Shape;402;p6"/>
            <p:cNvSpPr/>
            <p:nvPr/>
          </p:nvSpPr>
          <p:spPr>
            <a:xfrm>
              <a:off x="8420420" y="4398962"/>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3" name="Google Shape;403;p6"/>
            <p:cNvGrpSpPr/>
            <p:nvPr/>
          </p:nvGrpSpPr>
          <p:grpSpPr>
            <a:xfrm>
              <a:off x="-426172" y="4245888"/>
              <a:ext cx="1507871" cy="1510263"/>
              <a:chOff x="39184" y="-151930"/>
              <a:chExt cx="1309825" cy="1311903"/>
            </a:xfrm>
          </p:grpSpPr>
          <p:sp>
            <p:nvSpPr>
              <p:cNvPr id="404" name="Google Shape;404;p6"/>
              <p:cNvSpPr/>
              <p:nvPr/>
            </p:nvSpPr>
            <p:spPr>
              <a:xfrm>
                <a:off x="1304909" y="54495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6"/>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6"/>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6"/>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6"/>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6"/>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6"/>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6"/>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6"/>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6"/>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6"/>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
              <p:cNvSpPr/>
              <p:nvPr/>
            </p:nvSpPr>
            <p:spPr>
              <a:xfrm>
                <a:off x="1105499" y="62891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6"/>
              <p:cNvSpPr/>
              <p:nvPr/>
            </p:nvSpPr>
            <p:spPr>
              <a:xfrm>
                <a:off x="1034132" y="70028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6"/>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6"/>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6"/>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6"/>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6"/>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6"/>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6"/>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6"/>
              <p:cNvSpPr/>
              <p:nvPr/>
            </p:nvSpPr>
            <p:spPr>
              <a:xfrm>
                <a:off x="1046726" y="572240"/>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6"/>
              <p:cNvSpPr/>
              <p:nvPr/>
            </p:nvSpPr>
            <p:spPr>
              <a:xfrm>
                <a:off x="975359" y="643608"/>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6"/>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6"/>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6"/>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6"/>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6"/>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6"/>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6"/>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6"/>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6"/>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6"/>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6"/>
              <p:cNvSpPr/>
              <p:nvPr/>
            </p:nvSpPr>
            <p:spPr>
              <a:xfrm>
                <a:off x="775949" y="727570"/>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6"/>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6"/>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6"/>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6"/>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6"/>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6"/>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6"/>
              <p:cNvSpPr/>
              <p:nvPr/>
            </p:nvSpPr>
            <p:spPr>
              <a:xfrm>
                <a:off x="717176" y="66879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6"/>
              <p:cNvSpPr/>
              <p:nvPr/>
            </p:nvSpPr>
            <p:spPr>
              <a:xfrm>
                <a:off x="647907" y="740164"/>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6"/>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6"/>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6"/>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6"/>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6"/>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6"/>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6"/>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6"/>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6"/>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6"/>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6"/>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6"/>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6"/>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6"/>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6"/>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6"/>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6"/>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6"/>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6"/>
              <p:cNvSpPr/>
              <p:nvPr/>
            </p:nvSpPr>
            <p:spPr>
              <a:xfrm>
                <a:off x="389725" y="765353"/>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6"/>
              <p:cNvSpPr/>
              <p:nvPr/>
            </p:nvSpPr>
            <p:spPr>
              <a:xfrm>
                <a:off x="899793" y="13983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6"/>
              <p:cNvSpPr/>
              <p:nvPr/>
            </p:nvSpPr>
            <p:spPr>
              <a:xfrm>
                <a:off x="828425" y="21120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6"/>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6"/>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6"/>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6"/>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6"/>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6"/>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6"/>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6"/>
              <p:cNvSpPr/>
              <p:nvPr/>
            </p:nvSpPr>
            <p:spPr>
              <a:xfrm>
                <a:off x="841020" y="81064"/>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6"/>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6"/>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6"/>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6"/>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6"/>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6"/>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6"/>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6"/>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6"/>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6"/>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6"/>
              <p:cNvSpPr/>
              <p:nvPr/>
            </p:nvSpPr>
            <p:spPr>
              <a:xfrm>
                <a:off x="641610" y="167125"/>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6"/>
              <p:cNvSpPr/>
              <p:nvPr/>
            </p:nvSpPr>
            <p:spPr>
              <a:xfrm>
                <a:off x="570243" y="23639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6"/>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6"/>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6"/>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6"/>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6"/>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6"/>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6"/>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6"/>
              <p:cNvSpPr/>
              <p:nvPr/>
            </p:nvSpPr>
            <p:spPr>
              <a:xfrm>
                <a:off x="582837" y="10835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6"/>
              <p:cNvSpPr/>
              <p:nvPr/>
            </p:nvSpPr>
            <p:spPr>
              <a:xfrm>
                <a:off x="511469" y="179719"/>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6"/>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6"/>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6"/>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6"/>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6"/>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6"/>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6"/>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6"/>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6"/>
              <p:cNvSpPr/>
              <p:nvPr/>
            </p:nvSpPr>
            <p:spPr>
              <a:xfrm>
                <a:off x="312060" y="263681"/>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6"/>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6"/>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6"/>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6"/>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6"/>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6"/>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6"/>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6"/>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6"/>
              <p:cNvSpPr/>
              <p:nvPr/>
            </p:nvSpPr>
            <p:spPr>
              <a:xfrm>
                <a:off x="255386" y="204908"/>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6"/>
              <p:cNvSpPr/>
              <p:nvPr/>
            </p:nvSpPr>
            <p:spPr>
              <a:xfrm>
                <a:off x="184018" y="276275"/>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6"/>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6"/>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1" name="Google Shape;521;p6"/>
            <p:cNvGrpSpPr/>
            <p:nvPr/>
          </p:nvGrpSpPr>
          <p:grpSpPr>
            <a:xfrm flipH="1">
              <a:off x="8329138" y="-639686"/>
              <a:ext cx="1507871" cy="1510263"/>
              <a:chOff x="39184" y="-151930"/>
              <a:chExt cx="1309825" cy="1311903"/>
            </a:xfrm>
          </p:grpSpPr>
          <p:sp>
            <p:nvSpPr>
              <p:cNvPr id="522" name="Google Shape;522;p6"/>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6"/>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6"/>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6"/>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6"/>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6"/>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6"/>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6"/>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6"/>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6"/>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6"/>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6"/>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6"/>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6"/>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6"/>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6"/>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6"/>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6"/>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6"/>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6"/>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6"/>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6"/>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6"/>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6"/>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6"/>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6"/>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6"/>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6"/>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6"/>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6"/>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6"/>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6"/>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6"/>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6"/>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6"/>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6"/>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6"/>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6"/>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6"/>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6"/>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6"/>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6"/>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6"/>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6"/>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6"/>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6"/>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6"/>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6"/>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6"/>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6"/>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6"/>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6"/>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6"/>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6"/>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6"/>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6"/>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6"/>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6"/>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6"/>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6"/>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6"/>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6"/>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6"/>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6"/>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6"/>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6"/>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6"/>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6"/>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6"/>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6"/>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6"/>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6"/>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6"/>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6"/>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6"/>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6"/>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6"/>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6"/>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6"/>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6"/>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6"/>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6"/>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6"/>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6"/>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6"/>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6"/>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6"/>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6"/>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6"/>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6"/>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6"/>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6"/>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6"/>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6"/>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6"/>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6"/>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6"/>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6"/>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6"/>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6"/>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6"/>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6"/>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6"/>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6"/>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6"/>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6"/>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6"/>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6"/>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6"/>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6"/>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6"/>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6"/>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6"/>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6"/>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6"/>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6"/>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6"/>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9" name="Shape 639"/>
        <p:cNvGrpSpPr/>
        <p:nvPr/>
      </p:nvGrpSpPr>
      <p:grpSpPr>
        <a:xfrm>
          <a:off x="0" y="0"/>
          <a:ext cx="0" cy="0"/>
          <a:chOff x="0" y="0"/>
          <a:chExt cx="0" cy="0"/>
        </a:xfrm>
      </p:grpSpPr>
      <p:sp>
        <p:nvSpPr>
          <p:cNvPr id="640" name="Google Shape;640;p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641" name="Google Shape;641;p7"/>
          <p:cNvSpPr txBox="1"/>
          <p:nvPr>
            <p:ph idx="1" type="body"/>
          </p:nvPr>
        </p:nvSpPr>
        <p:spPr>
          <a:xfrm>
            <a:off x="574125" y="1374625"/>
            <a:ext cx="3987300" cy="31161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200"/>
            </a:lvl1pPr>
            <a:lvl2pPr indent="-304800" lvl="1" marL="914400" rtl="0">
              <a:lnSpc>
                <a:spcPct val="115000"/>
              </a:lnSpc>
              <a:spcBef>
                <a:spcPts val="0"/>
              </a:spcBef>
              <a:spcAft>
                <a:spcPts val="0"/>
              </a:spcAft>
              <a:buSzPts val="1200"/>
              <a:buChar char="○"/>
              <a:defRPr/>
            </a:lvl2pPr>
            <a:lvl3pPr indent="-304800" lvl="2" marL="1371600" rtl="0">
              <a:lnSpc>
                <a:spcPct val="115000"/>
              </a:lnSpc>
              <a:spcBef>
                <a:spcPts val="0"/>
              </a:spcBef>
              <a:spcAft>
                <a:spcPts val="0"/>
              </a:spcAft>
              <a:buSzPts val="1200"/>
              <a:buChar char="■"/>
              <a:defRPr/>
            </a:lvl3pPr>
            <a:lvl4pPr indent="-304800" lvl="3" marL="1828800" rtl="0">
              <a:lnSpc>
                <a:spcPct val="115000"/>
              </a:lnSpc>
              <a:spcBef>
                <a:spcPts val="0"/>
              </a:spcBef>
              <a:spcAft>
                <a:spcPts val="0"/>
              </a:spcAft>
              <a:buSzPts val="1200"/>
              <a:buChar char="●"/>
              <a:defRPr/>
            </a:lvl4pPr>
            <a:lvl5pPr indent="-304800" lvl="4" marL="2286000" rtl="0">
              <a:lnSpc>
                <a:spcPct val="115000"/>
              </a:lnSpc>
              <a:spcBef>
                <a:spcPts val="0"/>
              </a:spcBef>
              <a:spcAft>
                <a:spcPts val="0"/>
              </a:spcAft>
              <a:buSzPts val="1200"/>
              <a:buChar char="○"/>
              <a:defRPr/>
            </a:lvl5pPr>
            <a:lvl6pPr indent="-304800" lvl="5" marL="2743200" rtl="0">
              <a:lnSpc>
                <a:spcPct val="115000"/>
              </a:lnSpc>
              <a:spcBef>
                <a:spcPts val="0"/>
              </a:spcBef>
              <a:spcAft>
                <a:spcPts val="0"/>
              </a:spcAft>
              <a:buSzPts val="1200"/>
              <a:buChar char="■"/>
              <a:defRPr/>
            </a:lvl6pPr>
            <a:lvl7pPr indent="-304800" lvl="6" marL="3200400" rtl="0">
              <a:lnSpc>
                <a:spcPct val="115000"/>
              </a:lnSpc>
              <a:spcBef>
                <a:spcPts val="0"/>
              </a:spcBef>
              <a:spcAft>
                <a:spcPts val="0"/>
              </a:spcAft>
              <a:buSzPts val="1200"/>
              <a:buChar char="●"/>
              <a:defRPr/>
            </a:lvl7pPr>
            <a:lvl8pPr indent="-304800" lvl="7" marL="3657600" rtl="0">
              <a:lnSpc>
                <a:spcPct val="115000"/>
              </a:lnSpc>
              <a:spcBef>
                <a:spcPts val="0"/>
              </a:spcBef>
              <a:spcAft>
                <a:spcPts val="0"/>
              </a:spcAft>
              <a:buSzPts val="1200"/>
              <a:buChar char="○"/>
              <a:defRPr/>
            </a:lvl8pPr>
            <a:lvl9pPr indent="-304800" lvl="8" marL="4114800" rtl="0">
              <a:lnSpc>
                <a:spcPct val="115000"/>
              </a:lnSpc>
              <a:spcBef>
                <a:spcPts val="0"/>
              </a:spcBef>
              <a:spcAft>
                <a:spcPts val="0"/>
              </a:spcAft>
              <a:buSzPts val="1200"/>
              <a:buChar char="■"/>
              <a:defRPr/>
            </a:lvl9pPr>
          </a:lstStyle>
          <a:p/>
        </p:txBody>
      </p:sp>
      <p:sp>
        <p:nvSpPr>
          <p:cNvPr id="642" name="Google Shape;642;p7"/>
          <p:cNvSpPr/>
          <p:nvPr>
            <p:ph idx="2" type="pic"/>
          </p:nvPr>
        </p:nvSpPr>
        <p:spPr>
          <a:xfrm>
            <a:off x="4976975" y="1374425"/>
            <a:ext cx="3232800" cy="2913000"/>
          </a:xfrm>
          <a:prstGeom prst="roundRect">
            <a:avLst>
              <a:gd fmla="val 16667" name="adj"/>
            </a:avLst>
          </a:prstGeom>
          <a:noFill/>
          <a:ln>
            <a:noFill/>
          </a:ln>
        </p:spPr>
      </p:sp>
      <p:sp>
        <p:nvSpPr>
          <p:cNvPr id="643" name="Google Shape;643;p7"/>
          <p:cNvSpPr/>
          <p:nvPr/>
        </p:nvSpPr>
        <p:spPr>
          <a:xfrm>
            <a:off x="8421714" y="440228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4" name="Google Shape;644;p7"/>
          <p:cNvGrpSpPr/>
          <p:nvPr/>
        </p:nvGrpSpPr>
        <p:grpSpPr>
          <a:xfrm flipH="1">
            <a:off x="-132630" y="3762788"/>
            <a:ext cx="1507871" cy="1510263"/>
            <a:chOff x="39184" y="-151930"/>
            <a:chExt cx="1309825" cy="1311903"/>
          </a:xfrm>
        </p:grpSpPr>
        <p:sp>
          <p:nvSpPr>
            <p:cNvPr id="645" name="Google Shape;645;p7"/>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7"/>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7"/>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7"/>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7"/>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7"/>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7"/>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7"/>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7"/>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7"/>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7"/>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7"/>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7"/>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7"/>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7"/>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7"/>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7"/>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7"/>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7"/>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7"/>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7"/>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7"/>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7"/>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7"/>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7"/>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7"/>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7"/>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7"/>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7"/>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7"/>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7"/>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7"/>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7"/>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7"/>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7"/>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7"/>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7"/>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7"/>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7"/>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7"/>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7"/>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7"/>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7"/>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7"/>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7"/>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7"/>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7"/>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7"/>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7"/>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7"/>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7"/>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7"/>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7"/>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7"/>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7"/>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7"/>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7"/>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7"/>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7"/>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7"/>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7"/>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7"/>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7"/>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7"/>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7"/>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7"/>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7"/>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7"/>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7"/>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7"/>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7"/>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7"/>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7"/>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7"/>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7"/>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7"/>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7"/>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7"/>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7"/>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7"/>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7"/>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7"/>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7"/>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7"/>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7"/>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7"/>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7"/>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7"/>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7"/>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7"/>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7"/>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7"/>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7"/>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7"/>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7"/>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7"/>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7"/>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7"/>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7"/>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7"/>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7"/>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7"/>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7"/>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7"/>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7"/>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7"/>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7"/>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7"/>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7"/>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7"/>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7"/>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7"/>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7"/>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7"/>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7"/>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7"/>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7"/>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2" name="Shape 762"/>
        <p:cNvGrpSpPr/>
        <p:nvPr/>
      </p:nvGrpSpPr>
      <p:grpSpPr>
        <a:xfrm>
          <a:off x="0" y="0"/>
          <a:ext cx="0" cy="0"/>
          <a:chOff x="0" y="0"/>
          <a:chExt cx="0" cy="0"/>
        </a:xfrm>
      </p:grpSpPr>
      <p:sp>
        <p:nvSpPr>
          <p:cNvPr id="763" name="Google Shape;763;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64" name="Shape 764"/>
        <p:cNvGrpSpPr/>
        <p:nvPr/>
      </p:nvGrpSpPr>
      <p:grpSpPr>
        <a:xfrm>
          <a:off x="0" y="0"/>
          <a:ext cx="0" cy="0"/>
          <a:chOff x="0" y="0"/>
          <a:chExt cx="0" cy="0"/>
        </a:xfrm>
      </p:grpSpPr>
      <p:sp>
        <p:nvSpPr>
          <p:cNvPr id="765" name="Google Shape;765;p9"/>
          <p:cNvSpPr txBox="1"/>
          <p:nvPr>
            <p:ph idx="1" type="subTitle"/>
          </p:nvPr>
        </p:nvSpPr>
        <p:spPr>
          <a:xfrm>
            <a:off x="720068" y="2912750"/>
            <a:ext cx="3841500" cy="112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766" name="Google Shape;766;p9"/>
          <p:cNvSpPr txBox="1"/>
          <p:nvPr>
            <p:ph type="title"/>
          </p:nvPr>
        </p:nvSpPr>
        <p:spPr>
          <a:xfrm>
            <a:off x="720000" y="880850"/>
            <a:ext cx="3841500" cy="2031900"/>
          </a:xfrm>
          <a:prstGeom prst="rect">
            <a:avLst/>
          </a:prstGeom>
          <a:ln>
            <a:noFill/>
          </a:ln>
        </p:spPr>
        <p:txBody>
          <a:bodyPr anchorCtr="0" anchor="b"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767" name="Google Shape;767;p9"/>
          <p:cNvGrpSpPr/>
          <p:nvPr/>
        </p:nvGrpSpPr>
        <p:grpSpPr>
          <a:xfrm>
            <a:off x="-684423" y="-1789571"/>
            <a:ext cx="10430491" cy="7512343"/>
            <a:chOff x="-684423" y="-1789571"/>
            <a:chExt cx="10430491" cy="7512343"/>
          </a:xfrm>
        </p:grpSpPr>
        <p:grpSp>
          <p:nvGrpSpPr>
            <p:cNvPr id="768" name="Google Shape;768;p9"/>
            <p:cNvGrpSpPr/>
            <p:nvPr/>
          </p:nvGrpSpPr>
          <p:grpSpPr>
            <a:xfrm>
              <a:off x="7144492" y="3147242"/>
              <a:ext cx="2300520" cy="2575530"/>
              <a:chOff x="3238240" y="323850"/>
              <a:chExt cx="1739919" cy="1947912"/>
            </a:xfrm>
          </p:grpSpPr>
          <p:sp>
            <p:nvSpPr>
              <p:cNvPr id="769" name="Google Shape;769;p9"/>
              <p:cNvSpPr/>
              <p:nvPr/>
            </p:nvSpPr>
            <p:spPr>
              <a:xfrm>
                <a:off x="3238240" y="323850"/>
                <a:ext cx="1654154" cy="1947912"/>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9"/>
              <p:cNvSpPr/>
              <p:nvPr/>
            </p:nvSpPr>
            <p:spPr>
              <a:xfrm>
                <a:off x="4036753" y="947738"/>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9"/>
              <p:cNvSpPr/>
              <p:nvPr/>
            </p:nvSpPr>
            <p:spPr>
              <a:xfrm>
                <a:off x="3724015" y="1260475"/>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9"/>
              <p:cNvSpPr/>
              <p:nvPr/>
            </p:nvSpPr>
            <p:spPr>
              <a:xfrm>
                <a:off x="4109778" y="1271588"/>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9"/>
              <p:cNvSpPr/>
              <p:nvPr/>
            </p:nvSpPr>
            <p:spPr>
              <a:xfrm>
                <a:off x="4192328" y="1189038"/>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4" name="Google Shape;774;p9"/>
            <p:cNvSpPr/>
            <p:nvPr/>
          </p:nvSpPr>
          <p:spPr>
            <a:xfrm>
              <a:off x="-684423" y="-1789571"/>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5" name="Google Shape;775;p9"/>
            <p:cNvGrpSpPr/>
            <p:nvPr/>
          </p:nvGrpSpPr>
          <p:grpSpPr>
            <a:xfrm flipH="1">
              <a:off x="8238198" y="-570847"/>
              <a:ext cx="1507871" cy="1510263"/>
              <a:chOff x="39184" y="-151930"/>
              <a:chExt cx="1309825" cy="1311903"/>
            </a:xfrm>
          </p:grpSpPr>
          <p:sp>
            <p:nvSpPr>
              <p:cNvPr id="776" name="Google Shape;776;p9"/>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9"/>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9"/>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9"/>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9"/>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9"/>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9"/>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9"/>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9"/>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9"/>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9"/>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9"/>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9"/>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9"/>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9"/>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9"/>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9"/>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9"/>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9"/>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9"/>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9"/>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9"/>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9"/>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9"/>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9"/>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9"/>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9"/>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9"/>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9"/>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9"/>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9"/>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9"/>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9"/>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9"/>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9"/>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9"/>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9"/>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9"/>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9"/>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9"/>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9"/>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9"/>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9"/>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9"/>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9"/>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9"/>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9"/>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9"/>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9"/>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9"/>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9"/>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9"/>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9"/>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9"/>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9"/>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9"/>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9"/>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9"/>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9"/>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9"/>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9"/>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9"/>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9"/>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9"/>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9"/>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9"/>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9"/>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9"/>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9"/>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9"/>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9"/>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9"/>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9"/>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9"/>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9"/>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9"/>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9"/>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9"/>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9"/>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9"/>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9"/>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9"/>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9"/>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9"/>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9"/>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9"/>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9"/>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9"/>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9"/>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9"/>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9"/>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9"/>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9"/>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9"/>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9"/>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9"/>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9"/>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9"/>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9"/>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9"/>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9"/>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9"/>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9"/>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9"/>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9"/>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9"/>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9"/>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9"/>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9"/>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9"/>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9"/>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9"/>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9"/>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9"/>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9"/>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9"/>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9"/>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3" name="Shape 893"/>
        <p:cNvGrpSpPr/>
        <p:nvPr/>
      </p:nvGrpSpPr>
      <p:grpSpPr>
        <a:xfrm>
          <a:off x="0" y="0"/>
          <a:ext cx="0" cy="0"/>
          <a:chOff x="0" y="0"/>
          <a:chExt cx="0" cy="0"/>
        </a:xfrm>
      </p:grpSpPr>
      <p:sp>
        <p:nvSpPr>
          <p:cNvPr id="894" name="Google Shape;894;p10"/>
          <p:cNvSpPr/>
          <p:nvPr>
            <p:ph idx="2" type="pic"/>
          </p:nvPr>
        </p:nvSpPr>
        <p:spPr>
          <a:xfrm>
            <a:off x="0" y="0"/>
            <a:ext cx="9144000" cy="5143500"/>
          </a:xfrm>
          <a:prstGeom prst="rect">
            <a:avLst/>
          </a:prstGeom>
          <a:noFill/>
          <a:ln>
            <a:noFill/>
          </a:ln>
        </p:spPr>
      </p:sp>
      <p:sp>
        <p:nvSpPr>
          <p:cNvPr id="895" name="Google Shape;895;p10"/>
          <p:cNvSpPr txBox="1"/>
          <p:nvPr>
            <p:ph type="title"/>
          </p:nvPr>
        </p:nvSpPr>
        <p:spPr>
          <a:xfrm>
            <a:off x="740550" y="3910025"/>
            <a:ext cx="7662900" cy="693900"/>
          </a:xfrm>
          <a:prstGeom prst="rect">
            <a:avLst/>
          </a:prstGeom>
          <a:solidFill>
            <a:schemeClr val="accent2"/>
          </a:solidFill>
          <a:ln>
            <a:noFill/>
          </a:ln>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6" name="Shape 896"/>
        <p:cNvGrpSpPr/>
        <p:nvPr/>
      </p:nvGrpSpPr>
      <p:grpSpPr>
        <a:xfrm>
          <a:off x="0" y="0"/>
          <a:ext cx="0" cy="0"/>
          <a:chOff x="0" y="0"/>
          <a:chExt cx="0" cy="0"/>
        </a:xfrm>
      </p:grpSpPr>
      <p:sp>
        <p:nvSpPr>
          <p:cNvPr id="897" name="Google Shape;897;p11"/>
          <p:cNvSpPr txBox="1"/>
          <p:nvPr>
            <p:ph hasCustomPrompt="1" type="title"/>
          </p:nvPr>
        </p:nvSpPr>
        <p:spPr>
          <a:xfrm>
            <a:off x="1284000" y="1952850"/>
            <a:ext cx="6576000" cy="799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98" name="Google Shape;898;p11"/>
          <p:cNvSpPr txBox="1"/>
          <p:nvPr>
            <p:ph idx="1" type="subTitle"/>
          </p:nvPr>
        </p:nvSpPr>
        <p:spPr>
          <a:xfrm>
            <a:off x="1284000" y="2816250"/>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899" name="Shape 89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900" name="Shape 900"/>
        <p:cNvGrpSpPr/>
        <p:nvPr/>
      </p:nvGrpSpPr>
      <p:grpSpPr>
        <a:xfrm>
          <a:off x="0" y="0"/>
          <a:ext cx="0" cy="0"/>
          <a:chOff x="0" y="0"/>
          <a:chExt cx="0" cy="0"/>
        </a:xfrm>
      </p:grpSpPr>
      <p:sp>
        <p:nvSpPr>
          <p:cNvPr id="901" name="Google Shape;901;p13"/>
          <p:cNvSpPr txBox="1"/>
          <p:nvPr>
            <p:ph idx="1" type="subTitle"/>
          </p:nvPr>
        </p:nvSpPr>
        <p:spPr>
          <a:xfrm>
            <a:off x="1252225" y="2336850"/>
            <a:ext cx="2867700" cy="5259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2" name="Google Shape;902;p13"/>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nSpc>
                <a:spcPct val="90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903" name="Google Shape;903;p13"/>
          <p:cNvSpPr txBox="1"/>
          <p:nvPr>
            <p:ph hasCustomPrompt="1" idx="2" type="title"/>
          </p:nvPr>
        </p:nvSpPr>
        <p:spPr>
          <a:xfrm>
            <a:off x="1282000" y="1967451"/>
            <a:ext cx="7314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4" name="Google Shape;904;p13"/>
          <p:cNvSpPr txBox="1"/>
          <p:nvPr>
            <p:ph idx="3" type="subTitle"/>
          </p:nvPr>
        </p:nvSpPr>
        <p:spPr>
          <a:xfrm>
            <a:off x="2036325" y="1960502"/>
            <a:ext cx="2083500" cy="3924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5" name="Google Shape;905;p13"/>
          <p:cNvSpPr txBox="1"/>
          <p:nvPr>
            <p:ph idx="4" type="subTitle"/>
          </p:nvPr>
        </p:nvSpPr>
        <p:spPr>
          <a:xfrm>
            <a:off x="1252225" y="3826800"/>
            <a:ext cx="2867700" cy="5259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6" name="Google Shape;906;p13"/>
          <p:cNvSpPr txBox="1"/>
          <p:nvPr>
            <p:ph hasCustomPrompt="1" idx="5" type="title"/>
          </p:nvPr>
        </p:nvSpPr>
        <p:spPr>
          <a:xfrm>
            <a:off x="1282000" y="3457401"/>
            <a:ext cx="7314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7" name="Google Shape;907;p13"/>
          <p:cNvSpPr txBox="1"/>
          <p:nvPr>
            <p:ph idx="6" type="subTitle"/>
          </p:nvPr>
        </p:nvSpPr>
        <p:spPr>
          <a:xfrm>
            <a:off x="2036325" y="3450452"/>
            <a:ext cx="2083500" cy="3924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8" name="Google Shape;908;p13"/>
          <p:cNvSpPr txBox="1"/>
          <p:nvPr>
            <p:ph idx="7" type="subTitle"/>
          </p:nvPr>
        </p:nvSpPr>
        <p:spPr>
          <a:xfrm>
            <a:off x="5024125" y="2336850"/>
            <a:ext cx="2867700" cy="5259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9" name="Google Shape;909;p13"/>
          <p:cNvSpPr txBox="1"/>
          <p:nvPr>
            <p:ph hasCustomPrompt="1" idx="8" type="title"/>
          </p:nvPr>
        </p:nvSpPr>
        <p:spPr>
          <a:xfrm>
            <a:off x="5053900" y="1967451"/>
            <a:ext cx="7314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0" name="Google Shape;910;p13"/>
          <p:cNvSpPr txBox="1"/>
          <p:nvPr>
            <p:ph idx="9" type="subTitle"/>
          </p:nvPr>
        </p:nvSpPr>
        <p:spPr>
          <a:xfrm>
            <a:off x="5808225" y="1960502"/>
            <a:ext cx="2083500" cy="3924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1" name="Google Shape;911;p13"/>
          <p:cNvSpPr txBox="1"/>
          <p:nvPr>
            <p:ph idx="13" type="subTitle"/>
          </p:nvPr>
        </p:nvSpPr>
        <p:spPr>
          <a:xfrm>
            <a:off x="5024125" y="3826800"/>
            <a:ext cx="2867700" cy="5259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12" name="Google Shape;912;p13"/>
          <p:cNvSpPr txBox="1"/>
          <p:nvPr>
            <p:ph hasCustomPrompt="1" idx="14" type="title"/>
          </p:nvPr>
        </p:nvSpPr>
        <p:spPr>
          <a:xfrm>
            <a:off x="5053900" y="3457401"/>
            <a:ext cx="7314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3" name="Google Shape;913;p13"/>
          <p:cNvSpPr txBox="1"/>
          <p:nvPr>
            <p:ph idx="15" type="subTitle"/>
          </p:nvPr>
        </p:nvSpPr>
        <p:spPr>
          <a:xfrm>
            <a:off x="5808225" y="3450452"/>
            <a:ext cx="2083500" cy="392400"/>
          </a:xfrm>
          <a:prstGeom prst="rect">
            <a:avLst/>
          </a:prstGeom>
        </p:spPr>
        <p:txBody>
          <a:bodyPr anchorCtr="0" anchor="t" bIns="91425" lIns="91425" spcFirstLastPara="1" rIns="91425" wrap="square" tIns="91425">
            <a:noAutofit/>
          </a:bodyPr>
          <a:lstStyle>
            <a:lvl1pPr lvl="0" rtl="0">
              <a:lnSpc>
                <a:spcPct val="90000"/>
              </a:lnSpc>
              <a:spcBef>
                <a:spcPts val="75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4" name="Google Shape;914;p13"/>
          <p:cNvSpPr/>
          <p:nvPr/>
        </p:nvSpPr>
        <p:spPr>
          <a:xfrm rot="10800000">
            <a:off x="-605110" y="4164122"/>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15" name="Google Shape;915;p13"/>
          <p:cNvGrpSpPr/>
          <p:nvPr/>
        </p:nvGrpSpPr>
        <p:grpSpPr>
          <a:xfrm>
            <a:off x="7891595" y="-388147"/>
            <a:ext cx="1658229" cy="1282495"/>
            <a:chOff x="5136226" y="2246221"/>
            <a:chExt cx="1254144" cy="969970"/>
          </a:xfrm>
        </p:grpSpPr>
        <p:sp>
          <p:nvSpPr>
            <p:cNvPr id="916" name="Google Shape;916;p13"/>
            <p:cNvSpPr/>
            <p:nvPr/>
          </p:nvSpPr>
          <p:spPr>
            <a:xfrm>
              <a:off x="5448964" y="2246221"/>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3"/>
            <p:cNvSpPr/>
            <p:nvPr/>
          </p:nvSpPr>
          <p:spPr>
            <a:xfrm>
              <a:off x="5136226" y="2558958"/>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3"/>
            <p:cNvSpPr/>
            <p:nvPr/>
          </p:nvSpPr>
          <p:spPr>
            <a:xfrm>
              <a:off x="5521989" y="2570071"/>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3"/>
            <p:cNvSpPr/>
            <p:nvPr/>
          </p:nvSpPr>
          <p:spPr>
            <a:xfrm>
              <a:off x="5604539" y="2487521"/>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0" name="Google Shape;920;p13"/>
          <p:cNvGrpSpPr/>
          <p:nvPr/>
        </p:nvGrpSpPr>
        <p:grpSpPr>
          <a:xfrm>
            <a:off x="-883944" y="2944655"/>
            <a:ext cx="1507871" cy="1510263"/>
            <a:chOff x="39184" y="-151930"/>
            <a:chExt cx="1309825" cy="1311903"/>
          </a:xfrm>
        </p:grpSpPr>
        <p:sp>
          <p:nvSpPr>
            <p:cNvPr id="921" name="Google Shape;921;p13"/>
            <p:cNvSpPr/>
            <p:nvPr/>
          </p:nvSpPr>
          <p:spPr>
            <a:xfrm>
              <a:off x="1304909" y="54495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3"/>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3"/>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3"/>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3"/>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3"/>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3"/>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3"/>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13"/>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13"/>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13"/>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13"/>
            <p:cNvSpPr/>
            <p:nvPr/>
          </p:nvSpPr>
          <p:spPr>
            <a:xfrm>
              <a:off x="1105499" y="62891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13"/>
            <p:cNvSpPr/>
            <p:nvPr/>
          </p:nvSpPr>
          <p:spPr>
            <a:xfrm>
              <a:off x="1034132" y="70028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13"/>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13"/>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13"/>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13"/>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13"/>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13"/>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3"/>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3"/>
            <p:cNvSpPr/>
            <p:nvPr/>
          </p:nvSpPr>
          <p:spPr>
            <a:xfrm>
              <a:off x="1046726" y="572240"/>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3"/>
            <p:cNvSpPr/>
            <p:nvPr/>
          </p:nvSpPr>
          <p:spPr>
            <a:xfrm>
              <a:off x="975359" y="643608"/>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3"/>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3"/>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3"/>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13"/>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3"/>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13"/>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13"/>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3"/>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13"/>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13"/>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3"/>
            <p:cNvSpPr/>
            <p:nvPr/>
          </p:nvSpPr>
          <p:spPr>
            <a:xfrm>
              <a:off x="775949" y="727570"/>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3"/>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3"/>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3"/>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13"/>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13"/>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3"/>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13"/>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13"/>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13"/>
            <p:cNvSpPr/>
            <p:nvPr/>
          </p:nvSpPr>
          <p:spPr>
            <a:xfrm>
              <a:off x="717176" y="66879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3"/>
            <p:cNvSpPr/>
            <p:nvPr/>
          </p:nvSpPr>
          <p:spPr>
            <a:xfrm>
              <a:off x="647907" y="740164"/>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3"/>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13"/>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13"/>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13"/>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13"/>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3"/>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3"/>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3"/>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13"/>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3"/>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3"/>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3"/>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3"/>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3"/>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3"/>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13"/>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13"/>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3"/>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13"/>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13"/>
            <p:cNvSpPr/>
            <p:nvPr/>
          </p:nvSpPr>
          <p:spPr>
            <a:xfrm>
              <a:off x="389725" y="765353"/>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3"/>
            <p:cNvSpPr/>
            <p:nvPr/>
          </p:nvSpPr>
          <p:spPr>
            <a:xfrm>
              <a:off x="899793" y="139837"/>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3"/>
            <p:cNvSpPr/>
            <p:nvPr/>
          </p:nvSpPr>
          <p:spPr>
            <a:xfrm>
              <a:off x="828425" y="211205"/>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3"/>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3"/>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3"/>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13"/>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13"/>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13"/>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13"/>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13"/>
            <p:cNvSpPr/>
            <p:nvPr/>
          </p:nvSpPr>
          <p:spPr>
            <a:xfrm>
              <a:off x="841020" y="81064"/>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3"/>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3"/>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13"/>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13"/>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13"/>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13"/>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13"/>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13"/>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13"/>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13"/>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13"/>
            <p:cNvSpPr/>
            <p:nvPr/>
          </p:nvSpPr>
          <p:spPr>
            <a:xfrm>
              <a:off x="641610" y="167125"/>
              <a:ext cx="44100" cy="420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13"/>
            <p:cNvSpPr/>
            <p:nvPr/>
          </p:nvSpPr>
          <p:spPr>
            <a:xfrm>
              <a:off x="570243" y="236393"/>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13"/>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13"/>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13"/>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13"/>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13"/>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13"/>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13"/>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13"/>
            <p:cNvSpPr/>
            <p:nvPr/>
          </p:nvSpPr>
          <p:spPr>
            <a:xfrm>
              <a:off x="582837" y="108352"/>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13"/>
            <p:cNvSpPr/>
            <p:nvPr/>
          </p:nvSpPr>
          <p:spPr>
            <a:xfrm>
              <a:off x="511469" y="179719"/>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13"/>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13"/>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13"/>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13"/>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13"/>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13"/>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13"/>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13"/>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13"/>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13"/>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13"/>
            <p:cNvSpPr/>
            <p:nvPr/>
          </p:nvSpPr>
          <p:spPr>
            <a:xfrm>
              <a:off x="312060" y="263681"/>
              <a:ext cx="441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13"/>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13"/>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13"/>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13"/>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13"/>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13"/>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13"/>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13"/>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13"/>
            <p:cNvSpPr/>
            <p:nvPr/>
          </p:nvSpPr>
          <p:spPr>
            <a:xfrm>
              <a:off x="255386" y="204908"/>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13"/>
            <p:cNvSpPr/>
            <p:nvPr/>
          </p:nvSpPr>
          <p:spPr>
            <a:xfrm>
              <a:off x="184018" y="276275"/>
              <a:ext cx="42000" cy="44100"/>
            </a:xfrm>
            <a:prstGeom prst="ellipse">
              <a:avLst/>
            </a:pr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13"/>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13"/>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p:cSld name="TITLE_ONLY_2_1">
    <p:spTree>
      <p:nvGrpSpPr>
        <p:cNvPr id="1038" name="Shape 1038"/>
        <p:cNvGrpSpPr/>
        <p:nvPr/>
      </p:nvGrpSpPr>
      <p:grpSpPr>
        <a:xfrm>
          <a:off x="0" y="0"/>
          <a:ext cx="0" cy="0"/>
          <a:chOff x="0" y="0"/>
          <a:chExt cx="0" cy="0"/>
        </a:xfrm>
      </p:grpSpPr>
      <p:sp>
        <p:nvSpPr>
          <p:cNvPr id="1039" name="Google Shape;1039;p1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nSpc>
                <a:spcPct val="90000"/>
              </a:lnSpc>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040" name="Google Shape;1040;p14"/>
          <p:cNvSpPr/>
          <p:nvPr/>
        </p:nvSpPr>
        <p:spPr>
          <a:xfrm>
            <a:off x="8403036" y="440253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14"/>
          <p:cNvSpPr/>
          <p:nvPr/>
        </p:nvSpPr>
        <p:spPr>
          <a:xfrm>
            <a:off x="-1093603" y="3011591"/>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42" name="Google Shape;1042;p14"/>
          <p:cNvGrpSpPr/>
          <p:nvPr/>
        </p:nvGrpSpPr>
        <p:grpSpPr>
          <a:xfrm>
            <a:off x="8335771" y="-708520"/>
            <a:ext cx="1507871" cy="1510263"/>
            <a:chOff x="39184" y="-151930"/>
            <a:chExt cx="1309825" cy="1311903"/>
          </a:xfrm>
        </p:grpSpPr>
        <p:sp>
          <p:nvSpPr>
            <p:cNvPr id="1043" name="Google Shape;1043;p14"/>
            <p:cNvSpPr/>
            <p:nvPr/>
          </p:nvSpPr>
          <p:spPr>
            <a:xfrm>
              <a:off x="1304909" y="54495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14"/>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14"/>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14"/>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14"/>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14"/>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14"/>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14"/>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14"/>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14"/>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14"/>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14"/>
            <p:cNvSpPr/>
            <p:nvPr/>
          </p:nvSpPr>
          <p:spPr>
            <a:xfrm>
              <a:off x="1105499" y="62891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14"/>
            <p:cNvSpPr/>
            <p:nvPr/>
          </p:nvSpPr>
          <p:spPr>
            <a:xfrm>
              <a:off x="1034132" y="70028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14"/>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14"/>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14"/>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14"/>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14"/>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14"/>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14"/>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14"/>
            <p:cNvSpPr/>
            <p:nvPr/>
          </p:nvSpPr>
          <p:spPr>
            <a:xfrm>
              <a:off x="1046726" y="572240"/>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14"/>
            <p:cNvSpPr/>
            <p:nvPr/>
          </p:nvSpPr>
          <p:spPr>
            <a:xfrm>
              <a:off x="975359" y="643608"/>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14"/>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14"/>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14"/>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14"/>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14"/>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14"/>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14"/>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14"/>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14"/>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14"/>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14"/>
            <p:cNvSpPr/>
            <p:nvPr/>
          </p:nvSpPr>
          <p:spPr>
            <a:xfrm>
              <a:off x="775949" y="727570"/>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4"/>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14"/>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14"/>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14"/>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14"/>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14"/>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14"/>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14"/>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14"/>
            <p:cNvSpPr/>
            <p:nvPr/>
          </p:nvSpPr>
          <p:spPr>
            <a:xfrm>
              <a:off x="717176" y="66879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4"/>
            <p:cNvSpPr/>
            <p:nvPr/>
          </p:nvSpPr>
          <p:spPr>
            <a:xfrm>
              <a:off x="647907" y="740164"/>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4"/>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14"/>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14"/>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14"/>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4"/>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14"/>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4"/>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4"/>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14"/>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14"/>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14"/>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14"/>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14"/>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14"/>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14"/>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14"/>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14"/>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14"/>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14"/>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14"/>
            <p:cNvSpPr/>
            <p:nvPr/>
          </p:nvSpPr>
          <p:spPr>
            <a:xfrm>
              <a:off x="389725" y="765353"/>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14"/>
            <p:cNvSpPr/>
            <p:nvPr/>
          </p:nvSpPr>
          <p:spPr>
            <a:xfrm>
              <a:off x="899793" y="13983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14"/>
            <p:cNvSpPr/>
            <p:nvPr/>
          </p:nvSpPr>
          <p:spPr>
            <a:xfrm>
              <a:off x="828425" y="21120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14"/>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14"/>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14"/>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14"/>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14"/>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14"/>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14"/>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14"/>
            <p:cNvSpPr/>
            <p:nvPr/>
          </p:nvSpPr>
          <p:spPr>
            <a:xfrm>
              <a:off x="841020" y="81064"/>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14"/>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14"/>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14"/>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14"/>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14"/>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14"/>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14"/>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14"/>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14"/>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14"/>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4"/>
            <p:cNvSpPr/>
            <p:nvPr/>
          </p:nvSpPr>
          <p:spPr>
            <a:xfrm>
              <a:off x="641610" y="167125"/>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14"/>
            <p:cNvSpPr/>
            <p:nvPr/>
          </p:nvSpPr>
          <p:spPr>
            <a:xfrm>
              <a:off x="570243" y="23639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14"/>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14"/>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4"/>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14"/>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14"/>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14"/>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14"/>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14"/>
            <p:cNvSpPr/>
            <p:nvPr/>
          </p:nvSpPr>
          <p:spPr>
            <a:xfrm>
              <a:off x="582837" y="10835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14"/>
            <p:cNvSpPr/>
            <p:nvPr/>
          </p:nvSpPr>
          <p:spPr>
            <a:xfrm>
              <a:off x="511469" y="179719"/>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14"/>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14"/>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14"/>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14"/>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14"/>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4"/>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4"/>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14"/>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14"/>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14"/>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14"/>
            <p:cNvSpPr/>
            <p:nvPr/>
          </p:nvSpPr>
          <p:spPr>
            <a:xfrm>
              <a:off x="312060" y="263681"/>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4"/>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14"/>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14"/>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14"/>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14"/>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14"/>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14"/>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14"/>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14"/>
            <p:cNvSpPr/>
            <p:nvPr/>
          </p:nvSpPr>
          <p:spPr>
            <a:xfrm>
              <a:off x="255386" y="204908"/>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14"/>
            <p:cNvSpPr/>
            <p:nvPr/>
          </p:nvSpPr>
          <p:spPr>
            <a:xfrm>
              <a:off x="184018" y="276275"/>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4"/>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14"/>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160" name="Shape 1160"/>
        <p:cNvGrpSpPr/>
        <p:nvPr/>
      </p:nvGrpSpPr>
      <p:grpSpPr>
        <a:xfrm>
          <a:off x="0" y="0"/>
          <a:ext cx="0" cy="0"/>
          <a:chOff x="0" y="0"/>
          <a:chExt cx="0" cy="0"/>
        </a:xfrm>
      </p:grpSpPr>
      <p:sp>
        <p:nvSpPr>
          <p:cNvPr id="1161" name="Google Shape;1161;p15"/>
          <p:cNvSpPr txBox="1"/>
          <p:nvPr>
            <p:ph idx="1" type="subTitle"/>
          </p:nvPr>
        </p:nvSpPr>
        <p:spPr>
          <a:xfrm>
            <a:off x="817925" y="3098801"/>
            <a:ext cx="2279100" cy="75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2" name="Google Shape;1162;p15"/>
          <p:cNvSpPr txBox="1"/>
          <p:nvPr>
            <p:ph idx="2" type="subTitle"/>
          </p:nvPr>
        </p:nvSpPr>
        <p:spPr>
          <a:xfrm>
            <a:off x="3432450" y="3079926"/>
            <a:ext cx="2279100" cy="77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3" name="Google Shape;1163;p15"/>
          <p:cNvSpPr txBox="1"/>
          <p:nvPr>
            <p:ph idx="3" type="subTitle"/>
          </p:nvPr>
        </p:nvSpPr>
        <p:spPr>
          <a:xfrm>
            <a:off x="6067800" y="3080850"/>
            <a:ext cx="2279100" cy="776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4" name="Google Shape;1164;p1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1165" name="Google Shape;1165;p15"/>
          <p:cNvSpPr txBox="1"/>
          <p:nvPr>
            <p:ph idx="4" type="subTitle"/>
          </p:nvPr>
        </p:nvSpPr>
        <p:spPr>
          <a:xfrm>
            <a:off x="817925" y="2709450"/>
            <a:ext cx="2279100" cy="392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6" name="Google Shape;1166;p15"/>
          <p:cNvSpPr txBox="1"/>
          <p:nvPr>
            <p:ph idx="5" type="subTitle"/>
          </p:nvPr>
        </p:nvSpPr>
        <p:spPr>
          <a:xfrm>
            <a:off x="6067800" y="2709450"/>
            <a:ext cx="22791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7" name="Google Shape;1167;p15"/>
          <p:cNvSpPr txBox="1"/>
          <p:nvPr>
            <p:ph idx="6" type="subTitle"/>
          </p:nvPr>
        </p:nvSpPr>
        <p:spPr>
          <a:xfrm>
            <a:off x="3432450" y="2709450"/>
            <a:ext cx="22791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4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68" name="Google Shape;1168;p15"/>
          <p:cNvSpPr/>
          <p:nvPr/>
        </p:nvSpPr>
        <p:spPr>
          <a:xfrm rot="10800000">
            <a:off x="-4699" y="3"/>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69" name="Google Shape;1169;p15"/>
          <p:cNvGrpSpPr/>
          <p:nvPr/>
        </p:nvGrpSpPr>
        <p:grpSpPr>
          <a:xfrm>
            <a:off x="8273608" y="4200586"/>
            <a:ext cx="1507871" cy="1510263"/>
            <a:chOff x="39184" y="-151930"/>
            <a:chExt cx="1309825" cy="1311903"/>
          </a:xfrm>
        </p:grpSpPr>
        <p:sp>
          <p:nvSpPr>
            <p:cNvPr id="1170" name="Google Shape;1170;p15"/>
            <p:cNvSpPr/>
            <p:nvPr/>
          </p:nvSpPr>
          <p:spPr>
            <a:xfrm>
              <a:off x="1304909" y="544953"/>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15"/>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15"/>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15"/>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15"/>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5"/>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5"/>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15"/>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5"/>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15"/>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15"/>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5"/>
            <p:cNvSpPr/>
            <p:nvPr/>
          </p:nvSpPr>
          <p:spPr>
            <a:xfrm>
              <a:off x="1105499" y="628915"/>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5"/>
            <p:cNvSpPr/>
            <p:nvPr/>
          </p:nvSpPr>
          <p:spPr>
            <a:xfrm>
              <a:off x="1034132" y="700282"/>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15"/>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15"/>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15"/>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15"/>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15"/>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15"/>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15"/>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15"/>
            <p:cNvSpPr/>
            <p:nvPr/>
          </p:nvSpPr>
          <p:spPr>
            <a:xfrm>
              <a:off x="1046726" y="572240"/>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15"/>
            <p:cNvSpPr/>
            <p:nvPr/>
          </p:nvSpPr>
          <p:spPr>
            <a:xfrm>
              <a:off x="975359" y="643608"/>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15"/>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15"/>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15"/>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15"/>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15"/>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15"/>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15"/>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15"/>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15"/>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15"/>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15"/>
            <p:cNvSpPr/>
            <p:nvPr/>
          </p:nvSpPr>
          <p:spPr>
            <a:xfrm>
              <a:off x="775949" y="727570"/>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15"/>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5"/>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15"/>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15"/>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15"/>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15"/>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15"/>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15"/>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15"/>
            <p:cNvSpPr/>
            <p:nvPr/>
          </p:nvSpPr>
          <p:spPr>
            <a:xfrm>
              <a:off x="717176" y="668797"/>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15"/>
            <p:cNvSpPr/>
            <p:nvPr/>
          </p:nvSpPr>
          <p:spPr>
            <a:xfrm>
              <a:off x="647907" y="740164"/>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15"/>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15"/>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5"/>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5"/>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15"/>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15"/>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5"/>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15"/>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5"/>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5"/>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15"/>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15"/>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5"/>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5"/>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15"/>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15"/>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5"/>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5"/>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15"/>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15"/>
            <p:cNvSpPr/>
            <p:nvPr/>
          </p:nvSpPr>
          <p:spPr>
            <a:xfrm>
              <a:off x="389725" y="765353"/>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5"/>
            <p:cNvSpPr/>
            <p:nvPr/>
          </p:nvSpPr>
          <p:spPr>
            <a:xfrm>
              <a:off x="899793" y="139837"/>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5"/>
            <p:cNvSpPr/>
            <p:nvPr/>
          </p:nvSpPr>
          <p:spPr>
            <a:xfrm>
              <a:off x="828425" y="211205"/>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15"/>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15"/>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15"/>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15"/>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15"/>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15"/>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15"/>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15"/>
            <p:cNvSpPr/>
            <p:nvPr/>
          </p:nvSpPr>
          <p:spPr>
            <a:xfrm>
              <a:off x="841020" y="81064"/>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15"/>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15"/>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15"/>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15"/>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15"/>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15"/>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15"/>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5"/>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15"/>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15"/>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15"/>
            <p:cNvSpPr/>
            <p:nvPr/>
          </p:nvSpPr>
          <p:spPr>
            <a:xfrm>
              <a:off x="641610" y="167125"/>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15"/>
            <p:cNvSpPr/>
            <p:nvPr/>
          </p:nvSpPr>
          <p:spPr>
            <a:xfrm>
              <a:off x="570243" y="236393"/>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15"/>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15"/>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15"/>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15"/>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15"/>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15"/>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15"/>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15"/>
            <p:cNvSpPr/>
            <p:nvPr/>
          </p:nvSpPr>
          <p:spPr>
            <a:xfrm>
              <a:off x="582837" y="108352"/>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15"/>
            <p:cNvSpPr/>
            <p:nvPr/>
          </p:nvSpPr>
          <p:spPr>
            <a:xfrm>
              <a:off x="511469" y="179719"/>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15"/>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15"/>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15"/>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15"/>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15"/>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15"/>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15"/>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15"/>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15"/>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15"/>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15"/>
            <p:cNvSpPr/>
            <p:nvPr/>
          </p:nvSpPr>
          <p:spPr>
            <a:xfrm>
              <a:off x="312060" y="263681"/>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15"/>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15"/>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15"/>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15"/>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15"/>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15"/>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15"/>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15"/>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15"/>
            <p:cNvSpPr/>
            <p:nvPr/>
          </p:nvSpPr>
          <p:spPr>
            <a:xfrm>
              <a:off x="255386" y="204908"/>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15"/>
            <p:cNvSpPr/>
            <p:nvPr/>
          </p:nvSpPr>
          <p:spPr>
            <a:xfrm>
              <a:off x="184018" y="276275"/>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15"/>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15"/>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7" name="Google Shape;1287;p15"/>
          <p:cNvGrpSpPr/>
          <p:nvPr/>
        </p:nvGrpSpPr>
        <p:grpSpPr>
          <a:xfrm flipH="1">
            <a:off x="8324346" y="-624146"/>
            <a:ext cx="1507871" cy="1510263"/>
            <a:chOff x="39184" y="-151930"/>
            <a:chExt cx="1309825" cy="1311903"/>
          </a:xfrm>
        </p:grpSpPr>
        <p:sp>
          <p:nvSpPr>
            <p:cNvPr id="1288" name="Google Shape;1288;p15"/>
            <p:cNvSpPr/>
            <p:nvPr/>
          </p:nvSpPr>
          <p:spPr>
            <a:xfrm>
              <a:off x="1304909" y="54495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15"/>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15"/>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15"/>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15"/>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15"/>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15"/>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15"/>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15"/>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15"/>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15"/>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15"/>
            <p:cNvSpPr/>
            <p:nvPr/>
          </p:nvSpPr>
          <p:spPr>
            <a:xfrm>
              <a:off x="1105499" y="62891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15"/>
            <p:cNvSpPr/>
            <p:nvPr/>
          </p:nvSpPr>
          <p:spPr>
            <a:xfrm>
              <a:off x="1034132" y="70028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15"/>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15"/>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15"/>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15"/>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15"/>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5"/>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15"/>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15"/>
            <p:cNvSpPr/>
            <p:nvPr/>
          </p:nvSpPr>
          <p:spPr>
            <a:xfrm>
              <a:off x="1046726" y="572240"/>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15"/>
            <p:cNvSpPr/>
            <p:nvPr/>
          </p:nvSpPr>
          <p:spPr>
            <a:xfrm>
              <a:off x="975359" y="643608"/>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5"/>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5"/>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15"/>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15"/>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15"/>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15"/>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15"/>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15"/>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15"/>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15"/>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15"/>
            <p:cNvSpPr/>
            <p:nvPr/>
          </p:nvSpPr>
          <p:spPr>
            <a:xfrm>
              <a:off x="775949" y="727570"/>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15"/>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15"/>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15"/>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15"/>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15"/>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15"/>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15"/>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15"/>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15"/>
            <p:cNvSpPr/>
            <p:nvPr/>
          </p:nvSpPr>
          <p:spPr>
            <a:xfrm>
              <a:off x="717176" y="66879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15"/>
            <p:cNvSpPr/>
            <p:nvPr/>
          </p:nvSpPr>
          <p:spPr>
            <a:xfrm>
              <a:off x="647907" y="740164"/>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15"/>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5"/>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5"/>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15"/>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15"/>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15"/>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15"/>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15"/>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15"/>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15"/>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15"/>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15"/>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15"/>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15"/>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5"/>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15"/>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15"/>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15"/>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15"/>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15"/>
            <p:cNvSpPr/>
            <p:nvPr/>
          </p:nvSpPr>
          <p:spPr>
            <a:xfrm>
              <a:off x="389725" y="765353"/>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5"/>
            <p:cNvSpPr/>
            <p:nvPr/>
          </p:nvSpPr>
          <p:spPr>
            <a:xfrm>
              <a:off x="899793" y="13983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5"/>
            <p:cNvSpPr/>
            <p:nvPr/>
          </p:nvSpPr>
          <p:spPr>
            <a:xfrm>
              <a:off x="828425" y="21120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15"/>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15"/>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5"/>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5"/>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5"/>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5"/>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15"/>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15"/>
            <p:cNvSpPr/>
            <p:nvPr/>
          </p:nvSpPr>
          <p:spPr>
            <a:xfrm>
              <a:off x="841020" y="81064"/>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15"/>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15"/>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5"/>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15"/>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15"/>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15"/>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15"/>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5"/>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15"/>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15"/>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15"/>
            <p:cNvSpPr/>
            <p:nvPr/>
          </p:nvSpPr>
          <p:spPr>
            <a:xfrm>
              <a:off x="641610" y="167125"/>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15"/>
            <p:cNvSpPr/>
            <p:nvPr/>
          </p:nvSpPr>
          <p:spPr>
            <a:xfrm>
              <a:off x="570243" y="23639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15"/>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15"/>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15"/>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15"/>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15"/>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15"/>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15"/>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15"/>
            <p:cNvSpPr/>
            <p:nvPr/>
          </p:nvSpPr>
          <p:spPr>
            <a:xfrm>
              <a:off x="582837" y="10835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15"/>
            <p:cNvSpPr/>
            <p:nvPr/>
          </p:nvSpPr>
          <p:spPr>
            <a:xfrm>
              <a:off x="511469" y="179719"/>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15"/>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15"/>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15"/>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15"/>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15"/>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15"/>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15"/>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15"/>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15"/>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15"/>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15"/>
            <p:cNvSpPr/>
            <p:nvPr/>
          </p:nvSpPr>
          <p:spPr>
            <a:xfrm>
              <a:off x="312060" y="263681"/>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15"/>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15"/>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15"/>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15"/>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15"/>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15"/>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15"/>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15"/>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15"/>
            <p:cNvSpPr/>
            <p:nvPr/>
          </p:nvSpPr>
          <p:spPr>
            <a:xfrm>
              <a:off x="255386" y="204908"/>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15"/>
            <p:cNvSpPr/>
            <p:nvPr/>
          </p:nvSpPr>
          <p:spPr>
            <a:xfrm>
              <a:off x="184018" y="276275"/>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15"/>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15"/>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1405" name="Shape 1405"/>
        <p:cNvGrpSpPr/>
        <p:nvPr/>
      </p:nvGrpSpPr>
      <p:grpSpPr>
        <a:xfrm>
          <a:off x="0" y="0"/>
          <a:ext cx="0" cy="0"/>
          <a:chOff x="0" y="0"/>
          <a:chExt cx="0" cy="0"/>
        </a:xfrm>
      </p:grpSpPr>
      <p:sp>
        <p:nvSpPr>
          <p:cNvPr id="1406" name="Google Shape;1406;p16"/>
          <p:cNvSpPr txBox="1"/>
          <p:nvPr>
            <p:ph idx="1" type="subTitle"/>
          </p:nvPr>
        </p:nvSpPr>
        <p:spPr>
          <a:xfrm>
            <a:off x="720100" y="2402075"/>
            <a:ext cx="6145800" cy="1546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200"/>
            </a:lvl1pPr>
            <a:lvl2pPr lvl="1">
              <a:lnSpc>
                <a:spcPct val="100000"/>
              </a:lnSpc>
              <a:spcBef>
                <a:spcPts val="0"/>
              </a:spcBef>
              <a:spcAft>
                <a:spcPts val="0"/>
              </a:spcAft>
              <a:buSzPts val="12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p:txBody>
      </p:sp>
      <p:sp>
        <p:nvSpPr>
          <p:cNvPr id="1407" name="Google Shape;1407;p16"/>
          <p:cNvSpPr txBox="1"/>
          <p:nvPr>
            <p:ph type="title"/>
          </p:nvPr>
        </p:nvSpPr>
        <p:spPr>
          <a:xfrm>
            <a:off x="720000" y="1051775"/>
            <a:ext cx="6145800" cy="1121700"/>
          </a:xfrm>
          <a:prstGeom prst="rect">
            <a:avLst/>
          </a:prstGeom>
          <a:ln>
            <a:noFill/>
          </a:ln>
        </p:spPr>
        <p:txBody>
          <a:bodyPr anchorCtr="0" anchor="b" bIns="91425" lIns="91425" spcFirstLastPara="1" rIns="91425" wrap="square" tIns="91425">
            <a:noAutofit/>
          </a:bodyPr>
          <a:lstStyle>
            <a:lvl1pPr lvl="0">
              <a:lnSpc>
                <a:spcPct val="90000"/>
              </a:lnSpc>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grpSp>
        <p:nvGrpSpPr>
          <p:cNvPr id="1408" name="Google Shape;1408;p16"/>
          <p:cNvGrpSpPr/>
          <p:nvPr/>
        </p:nvGrpSpPr>
        <p:grpSpPr>
          <a:xfrm>
            <a:off x="-684423" y="-1789571"/>
            <a:ext cx="10430491" cy="7512343"/>
            <a:chOff x="-684423" y="-1789571"/>
            <a:chExt cx="10430491" cy="7512343"/>
          </a:xfrm>
        </p:grpSpPr>
        <p:grpSp>
          <p:nvGrpSpPr>
            <p:cNvPr id="1409" name="Google Shape;1409;p16"/>
            <p:cNvGrpSpPr/>
            <p:nvPr/>
          </p:nvGrpSpPr>
          <p:grpSpPr>
            <a:xfrm>
              <a:off x="7144492" y="3147242"/>
              <a:ext cx="2300520" cy="2575530"/>
              <a:chOff x="3238240" y="323850"/>
              <a:chExt cx="1739919" cy="1947912"/>
            </a:xfrm>
          </p:grpSpPr>
          <p:sp>
            <p:nvSpPr>
              <p:cNvPr id="1410" name="Google Shape;1410;p16"/>
              <p:cNvSpPr/>
              <p:nvPr/>
            </p:nvSpPr>
            <p:spPr>
              <a:xfrm>
                <a:off x="3238240" y="323850"/>
                <a:ext cx="1654154" cy="1947912"/>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16"/>
              <p:cNvSpPr/>
              <p:nvPr/>
            </p:nvSpPr>
            <p:spPr>
              <a:xfrm>
                <a:off x="4036753" y="947738"/>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16"/>
              <p:cNvSpPr/>
              <p:nvPr/>
            </p:nvSpPr>
            <p:spPr>
              <a:xfrm>
                <a:off x="3724015" y="1260475"/>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rgbClr val="F0EBE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16"/>
              <p:cNvSpPr/>
              <p:nvPr/>
            </p:nvSpPr>
            <p:spPr>
              <a:xfrm>
                <a:off x="4109778" y="1271588"/>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rgbClr val="1C34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16"/>
              <p:cNvSpPr/>
              <p:nvPr/>
            </p:nvSpPr>
            <p:spPr>
              <a:xfrm>
                <a:off x="4192328" y="1189038"/>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5" name="Google Shape;1415;p16"/>
            <p:cNvSpPr/>
            <p:nvPr/>
          </p:nvSpPr>
          <p:spPr>
            <a:xfrm>
              <a:off x="-684423" y="-1789571"/>
              <a:ext cx="2187200" cy="2575531"/>
            </a:xfrm>
            <a:custGeom>
              <a:rect b="b" l="l" r="r" t="t"/>
              <a:pathLst>
                <a:path extrusionOk="0" h="58876" w="50016">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rgbClr val="A7B3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16" name="Google Shape;1416;p16"/>
            <p:cNvGrpSpPr/>
            <p:nvPr/>
          </p:nvGrpSpPr>
          <p:grpSpPr>
            <a:xfrm flipH="1">
              <a:off x="8238198" y="-570847"/>
              <a:ext cx="1507871" cy="1510263"/>
              <a:chOff x="39184" y="-151930"/>
              <a:chExt cx="1309825" cy="1311903"/>
            </a:xfrm>
          </p:grpSpPr>
          <p:sp>
            <p:nvSpPr>
              <p:cNvPr id="1417" name="Google Shape;1417;p16"/>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16"/>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16"/>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16"/>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16"/>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16"/>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16"/>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16"/>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6"/>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16"/>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16"/>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16"/>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16"/>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6"/>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6"/>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16"/>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16"/>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16"/>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16"/>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16"/>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16"/>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16"/>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16"/>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16"/>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16"/>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16"/>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16"/>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16"/>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16"/>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16"/>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16"/>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16"/>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16"/>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16"/>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16"/>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16"/>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16"/>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16"/>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16"/>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16"/>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16"/>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16"/>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16"/>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16"/>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16"/>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16"/>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16"/>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16"/>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16"/>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16"/>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16"/>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16"/>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16"/>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16"/>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16"/>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16"/>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16"/>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16"/>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16"/>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16"/>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16"/>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16"/>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16"/>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6"/>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6"/>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6"/>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16"/>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16"/>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16"/>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16"/>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6"/>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16"/>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16"/>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16"/>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16"/>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16"/>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16"/>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16"/>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16"/>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16"/>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16"/>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16"/>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16"/>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16"/>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16"/>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6"/>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16"/>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16"/>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16"/>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16"/>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16"/>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16"/>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16"/>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16"/>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1" name="Google Shape;1511;p16"/>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p16"/>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16"/>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16"/>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16"/>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16"/>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16"/>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16"/>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16"/>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16"/>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16"/>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16"/>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16"/>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16"/>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16"/>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16"/>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16"/>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16"/>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16"/>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16"/>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16"/>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16"/>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16"/>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1534" name="Shape 1534"/>
        <p:cNvGrpSpPr/>
        <p:nvPr/>
      </p:nvGrpSpPr>
      <p:grpSpPr>
        <a:xfrm>
          <a:off x="0" y="0"/>
          <a:ext cx="0" cy="0"/>
          <a:chOff x="0" y="0"/>
          <a:chExt cx="0" cy="0"/>
        </a:xfrm>
      </p:grpSpPr>
      <p:sp>
        <p:nvSpPr>
          <p:cNvPr id="1535" name="Google Shape;1535;p1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1536" name="Google Shape;1536;p17"/>
          <p:cNvSpPr txBox="1"/>
          <p:nvPr>
            <p:ph idx="1" type="body"/>
          </p:nvPr>
        </p:nvSpPr>
        <p:spPr>
          <a:xfrm>
            <a:off x="574125" y="1374625"/>
            <a:ext cx="3987300" cy="31161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200"/>
            </a:lvl1pPr>
            <a:lvl2pPr indent="-304800" lvl="1" marL="914400">
              <a:lnSpc>
                <a:spcPct val="115000"/>
              </a:lnSpc>
              <a:spcBef>
                <a:spcPts val="0"/>
              </a:spcBef>
              <a:spcAft>
                <a:spcPts val="0"/>
              </a:spcAft>
              <a:buSzPts val="1200"/>
              <a:buChar char="○"/>
              <a:defRPr/>
            </a:lvl2pPr>
            <a:lvl3pPr indent="-304800" lvl="2" marL="1371600">
              <a:lnSpc>
                <a:spcPct val="115000"/>
              </a:lnSpc>
              <a:spcBef>
                <a:spcPts val="0"/>
              </a:spcBef>
              <a:spcAft>
                <a:spcPts val="0"/>
              </a:spcAft>
              <a:buSzPts val="1200"/>
              <a:buChar char="■"/>
              <a:defRPr/>
            </a:lvl3pPr>
            <a:lvl4pPr indent="-304800" lvl="3" marL="1828800">
              <a:lnSpc>
                <a:spcPct val="115000"/>
              </a:lnSpc>
              <a:spcBef>
                <a:spcPts val="0"/>
              </a:spcBef>
              <a:spcAft>
                <a:spcPts val="0"/>
              </a:spcAft>
              <a:buSzPts val="1200"/>
              <a:buChar char="●"/>
              <a:defRPr/>
            </a:lvl4pPr>
            <a:lvl5pPr indent="-304800" lvl="4" marL="2286000">
              <a:lnSpc>
                <a:spcPct val="115000"/>
              </a:lnSpc>
              <a:spcBef>
                <a:spcPts val="0"/>
              </a:spcBef>
              <a:spcAft>
                <a:spcPts val="0"/>
              </a:spcAft>
              <a:buSzPts val="1200"/>
              <a:buChar char="○"/>
              <a:defRPr/>
            </a:lvl5pPr>
            <a:lvl6pPr indent="-304800" lvl="5" marL="2743200">
              <a:lnSpc>
                <a:spcPct val="115000"/>
              </a:lnSpc>
              <a:spcBef>
                <a:spcPts val="0"/>
              </a:spcBef>
              <a:spcAft>
                <a:spcPts val="0"/>
              </a:spcAft>
              <a:buSzPts val="1200"/>
              <a:buChar char="■"/>
              <a:defRPr/>
            </a:lvl6pPr>
            <a:lvl7pPr indent="-304800" lvl="6" marL="3200400">
              <a:lnSpc>
                <a:spcPct val="115000"/>
              </a:lnSpc>
              <a:spcBef>
                <a:spcPts val="0"/>
              </a:spcBef>
              <a:spcAft>
                <a:spcPts val="0"/>
              </a:spcAft>
              <a:buSzPts val="1200"/>
              <a:buChar char="●"/>
              <a:defRPr/>
            </a:lvl7pPr>
            <a:lvl8pPr indent="-304800" lvl="7" marL="3657600">
              <a:lnSpc>
                <a:spcPct val="115000"/>
              </a:lnSpc>
              <a:spcBef>
                <a:spcPts val="0"/>
              </a:spcBef>
              <a:spcAft>
                <a:spcPts val="0"/>
              </a:spcAft>
              <a:buSzPts val="1200"/>
              <a:buChar char="○"/>
              <a:defRPr/>
            </a:lvl8pPr>
            <a:lvl9pPr indent="-304800" lvl="8" marL="4114800">
              <a:lnSpc>
                <a:spcPct val="115000"/>
              </a:lnSpc>
              <a:spcBef>
                <a:spcPts val="0"/>
              </a:spcBef>
              <a:spcAft>
                <a:spcPts val="0"/>
              </a:spcAft>
              <a:buSzPts val="1200"/>
              <a:buChar char="■"/>
              <a:defRPr/>
            </a:lvl9pPr>
          </a:lstStyle>
          <a:p/>
        </p:txBody>
      </p:sp>
      <p:sp>
        <p:nvSpPr>
          <p:cNvPr id="1537" name="Google Shape;1537;p17"/>
          <p:cNvSpPr/>
          <p:nvPr>
            <p:ph idx="2" type="pic"/>
          </p:nvPr>
        </p:nvSpPr>
        <p:spPr>
          <a:xfrm>
            <a:off x="4976975" y="1374425"/>
            <a:ext cx="3232800" cy="2913000"/>
          </a:xfrm>
          <a:prstGeom prst="roundRect">
            <a:avLst>
              <a:gd fmla="val 16667" name="adj"/>
            </a:avLst>
          </a:prstGeom>
          <a:noFill/>
          <a:ln>
            <a:noFill/>
          </a:ln>
        </p:spPr>
      </p:sp>
      <p:sp>
        <p:nvSpPr>
          <p:cNvPr id="1538" name="Google Shape;1538;p17"/>
          <p:cNvSpPr/>
          <p:nvPr/>
        </p:nvSpPr>
        <p:spPr>
          <a:xfrm>
            <a:off x="8421714" y="440228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rgbClr val="4C6A7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39" name="Google Shape;1539;p17"/>
          <p:cNvGrpSpPr/>
          <p:nvPr/>
        </p:nvGrpSpPr>
        <p:grpSpPr>
          <a:xfrm flipH="1">
            <a:off x="-132630" y="3762788"/>
            <a:ext cx="1507871" cy="1510263"/>
            <a:chOff x="39184" y="-151930"/>
            <a:chExt cx="1309825" cy="1311903"/>
          </a:xfrm>
        </p:grpSpPr>
        <p:sp>
          <p:nvSpPr>
            <p:cNvPr id="1540" name="Google Shape;1540;p17"/>
            <p:cNvSpPr/>
            <p:nvPr/>
          </p:nvSpPr>
          <p:spPr>
            <a:xfrm>
              <a:off x="1304909" y="54495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17"/>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17"/>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17"/>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17"/>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17"/>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17"/>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17"/>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17"/>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17"/>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17"/>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17"/>
            <p:cNvSpPr/>
            <p:nvPr/>
          </p:nvSpPr>
          <p:spPr>
            <a:xfrm>
              <a:off x="1105499" y="62891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17"/>
            <p:cNvSpPr/>
            <p:nvPr/>
          </p:nvSpPr>
          <p:spPr>
            <a:xfrm>
              <a:off x="1034132" y="70028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17"/>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17"/>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17"/>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17"/>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17"/>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17"/>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17"/>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17"/>
            <p:cNvSpPr/>
            <p:nvPr/>
          </p:nvSpPr>
          <p:spPr>
            <a:xfrm>
              <a:off x="1046726" y="572240"/>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17"/>
            <p:cNvSpPr/>
            <p:nvPr/>
          </p:nvSpPr>
          <p:spPr>
            <a:xfrm>
              <a:off x="975359" y="643608"/>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17"/>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17"/>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17"/>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17"/>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17"/>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17"/>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p17"/>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p17"/>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17"/>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p17"/>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17"/>
            <p:cNvSpPr/>
            <p:nvPr/>
          </p:nvSpPr>
          <p:spPr>
            <a:xfrm>
              <a:off x="775949" y="727570"/>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17"/>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17"/>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17"/>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17"/>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17"/>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17"/>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17"/>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17"/>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17"/>
            <p:cNvSpPr/>
            <p:nvPr/>
          </p:nvSpPr>
          <p:spPr>
            <a:xfrm>
              <a:off x="717176" y="66879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17"/>
            <p:cNvSpPr/>
            <p:nvPr/>
          </p:nvSpPr>
          <p:spPr>
            <a:xfrm>
              <a:off x="647907" y="740164"/>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17"/>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17"/>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17"/>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17"/>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17"/>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17"/>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17"/>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17"/>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p17"/>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17"/>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17"/>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p17"/>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p17"/>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17"/>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17"/>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17"/>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17"/>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17"/>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17"/>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17"/>
            <p:cNvSpPr/>
            <p:nvPr/>
          </p:nvSpPr>
          <p:spPr>
            <a:xfrm>
              <a:off x="389725" y="765353"/>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17"/>
            <p:cNvSpPr/>
            <p:nvPr/>
          </p:nvSpPr>
          <p:spPr>
            <a:xfrm>
              <a:off x="899793" y="139837"/>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17"/>
            <p:cNvSpPr/>
            <p:nvPr/>
          </p:nvSpPr>
          <p:spPr>
            <a:xfrm>
              <a:off x="828425" y="211205"/>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17"/>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17"/>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17"/>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p17"/>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p17"/>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p17"/>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p17"/>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p17"/>
            <p:cNvSpPr/>
            <p:nvPr/>
          </p:nvSpPr>
          <p:spPr>
            <a:xfrm>
              <a:off x="841020" y="81064"/>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17"/>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17"/>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17"/>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17"/>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17"/>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17"/>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17"/>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17"/>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17"/>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17"/>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p17"/>
            <p:cNvSpPr/>
            <p:nvPr/>
          </p:nvSpPr>
          <p:spPr>
            <a:xfrm>
              <a:off x="641610" y="167125"/>
              <a:ext cx="44100" cy="420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p17"/>
            <p:cNvSpPr/>
            <p:nvPr/>
          </p:nvSpPr>
          <p:spPr>
            <a:xfrm>
              <a:off x="570243" y="236393"/>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p17"/>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p17"/>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17"/>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17"/>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17"/>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17"/>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17"/>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17"/>
            <p:cNvSpPr/>
            <p:nvPr/>
          </p:nvSpPr>
          <p:spPr>
            <a:xfrm>
              <a:off x="582837" y="108352"/>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17"/>
            <p:cNvSpPr/>
            <p:nvPr/>
          </p:nvSpPr>
          <p:spPr>
            <a:xfrm>
              <a:off x="511469" y="179719"/>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7"/>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17"/>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17"/>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17"/>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17"/>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17"/>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17"/>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17"/>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17"/>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17"/>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17"/>
            <p:cNvSpPr/>
            <p:nvPr/>
          </p:nvSpPr>
          <p:spPr>
            <a:xfrm>
              <a:off x="312060" y="263681"/>
              <a:ext cx="441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17"/>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17"/>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17"/>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17"/>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17"/>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17"/>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17"/>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17"/>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17"/>
            <p:cNvSpPr/>
            <p:nvPr/>
          </p:nvSpPr>
          <p:spPr>
            <a:xfrm>
              <a:off x="255386" y="204908"/>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17"/>
            <p:cNvSpPr/>
            <p:nvPr/>
          </p:nvSpPr>
          <p:spPr>
            <a:xfrm>
              <a:off x="184018" y="276275"/>
              <a:ext cx="42000" cy="44100"/>
            </a:xfrm>
            <a:prstGeom prst="ellipse">
              <a:avLst/>
            </a:pr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17"/>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17"/>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rgbClr val="E0B4A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657" name="Shape 1657"/>
        <p:cNvGrpSpPr/>
        <p:nvPr/>
      </p:nvGrpSpPr>
      <p:grpSpPr>
        <a:xfrm>
          <a:off x="0" y="0"/>
          <a:ext cx="0" cy="0"/>
          <a:chOff x="0" y="0"/>
          <a:chExt cx="0" cy="0"/>
        </a:xfrm>
      </p:grpSpPr>
      <p:sp>
        <p:nvSpPr>
          <p:cNvPr id="1658" name="Google Shape;1658;p18"/>
          <p:cNvSpPr txBox="1"/>
          <p:nvPr>
            <p:ph type="title"/>
          </p:nvPr>
        </p:nvSpPr>
        <p:spPr>
          <a:xfrm>
            <a:off x="1977920" y="552450"/>
            <a:ext cx="5188200" cy="1058700"/>
          </a:xfrm>
          <a:prstGeom prst="rect">
            <a:avLst/>
          </a:prstGeom>
        </p:spPr>
        <p:txBody>
          <a:bodyPr anchorCtr="0" anchor="b" bIns="91425" lIns="91425" spcFirstLastPara="1" rIns="91425" wrap="square" tIns="91425">
            <a:noAutofit/>
          </a:bodyPr>
          <a:lstStyle>
            <a:lvl1pPr lvl="0" rtl="0" algn="ctr">
              <a:lnSpc>
                <a:spcPct val="90000"/>
              </a:lnSpc>
              <a:spcBef>
                <a:spcPts val="0"/>
              </a:spcBef>
              <a:spcAft>
                <a:spcPts val="0"/>
              </a:spcAft>
              <a:buSzPts val="3400"/>
              <a:buNone/>
              <a:defRPr sz="8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659" name="Google Shape;1659;p18"/>
          <p:cNvSpPr txBox="1"/>
          <p:nvPr>
            <p:ph idx="1" type="subTitle"/>
          </p:nvPr>
        </p:nvSpPr>
        <p:spPr>
          <a:xfrm>
            <a:off x="1977876" y="1479800"/>
            <a:ext cx="5188200" cy="1231800"/>
          </a:xfrm>
          <a:prstGeom prst="rect">
            <a:avLst/>
          </a:prstGeom>
        </p:spPr>
        <p:txBody>
          <a:bodyPr anchorCtr="0" anchor="t" bIns="91425" lIns="91425" spcFirstLastPara="1" rIns="91425" wrap="square" tIns="91425">
            <a:noAutofit/>
          </a:bodyPr>
          <a:lstStyle>
            <a:lvl1pPr lvl="0" rtl="0" algn="ctr">
              <a:lnSpc>
                <a:spcPct val="90000"/>
              </a:lnSpc>
              <a:spcBef>
                <a:spcPts val="750"/>
              </a:spcBef>
              <a:spcAft>
                <a:spcPts val="0"/>
              </a:spcAft>
              <a:buSzPts val="1200"/>
              <a:buNone/>
              <a:defRPr sz="1300">
                <a:latin typeface="Arial"/>
                <a:ea typeface="Arial"/>
                <a:cs typeface="Arial"/>
                <a:sym typeface="Arial"/>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60" name="Google Shape;1660;p18"/>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b="1" lang="en" sz="1200"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infographics &amp; images by </a:t>
            </a:r>
            <a:r>
              <a:rPr b="1" lang="en" sz="1200" u="sng">
                <a:solidFill>
                  <a:schemeClr val="dk1"/>
                </a:solidFill>
                <a:latin typeface="Open Sans"/>
                <a:ea typeface="Open Sans"/>
                <a:cs typeface="Open Sans"/>
                <a:sym typeface="Open Sans"/>
                <a:hlinkClick r:id="rId3">
                  <a:extLst>
                    <a:ext uri="{A12FA001-AC4F-418D-AE19-62706E023703}">
                      <ahyp:hlinkClr val="tx"/>
                    </a:ext>
                  </a:extLst>
                </a:hlinkClick>
              </a:rPr>
              <a:t>Freepik</a:t>
            </a:r>
            <a:r>
              <a:rPr lang="en" sz="1200" u="sng">
                <a:solidFill>
                  <a:schemeClr val="dk1"/>
                </a:solidFill>
                <a:latin typeface="Open Sans"/>
                <a:ea typeface="Open Sans"/>
                <a:cs typeface="Open Sans"/>
                <a:sym typeface="Open Sans"/>
              </a:rPr>
              <a:t> </a:t>
            </a:r>
            <a:endParaRPr b="1" sz="1200" u="sng">
              <a:solidFill>
                <a:schemeClr val="dk1"/>
              </a:solidFill>
              <a:latin typeface="Open Sans"/>
              <a:ea typeface="Open Sans"/>
              <a:cs typeface="Open Sans"/>
              <a:sym typeface="Open Sans"/>
            </a:endParaRPr>
          </a:p>
        </p:txBody>
      </p:sp>
      <p:sp>
        <p:nvSpPr>
          <p:cNvPr id="1661" name="Google Shape;1661;p18"/>
          <p:cNvSpPr/>
          <p:nvPr/>
        </p:nvSpPr>
        <p:spPr>
          <a:xfrm rot="5400000">
            <a:off x="8403039" y="440253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62" name="Google Shape;1662;p18"/>
          <p:cNvGrpSpPr/>
          <p:nvPr/>
        </p:nvGrpSpPr>
        <p:grpSpPr>
          <a:xfrm>
            <a:off x="7650879" y="395671"/>
            <a:ext cx="1658229" cy="1282495"/>
            <a:chOff x="5136226" y="2246221"/>
            <a:chExt cx="1254144" cy="969970"/>
          </a:xfrm>
        </p:grpSpPr>
        <p:sp>
          <p:nvSpPr>
            <p:cNvPr id="1663" name="Google Shape;1663;p18"/>
            <p:cNvSpPr/>
            <p:nvPr/>
          </p:nvSpPr>
          <p:spPr>
            <a:xfrm>
              <a:off x="5448964" y="2246221"/>
              <a:ext cx="941406" cy="657233"/>
            </a:xfrm>
            <a:custGeom>
              <a:rect b="b" l="l" r="r" t="t"/>
              <a:pathLst>
                <a:path extrusionOk="0" h="19847" w="28452">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18"/>
            <p:cNvSpPr/>
            <p:nvPr/>
          </p:nvSpPr>
          <p:spPr>
            <a:xfrm>
              <a:off x="5136226" y="2558958"/>
              <a:ext cx="941406" cy="657233"/>
            </a:xfrm>
            <a:custGeom>
              <a:rect b="b" l="l" r="r" t="t"/>
              <a:pathLst>
                <a:path extrusionOk="0" h="19847" w="28452">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18"/>
            <p:cNvSpPr/>
            <p:nvPr/>
          </p:nvSpPr>
          <p:spPr>
            <a:xfrm>
              <a:off x="5521989" y="2570071"/>
              <a:ext cx="403228" cy="403228"/>
            </a:xfrm>
            <a:custGeom>
              <a:rect b="b" l="l" r="r" t="t"/>
              <a:pathLst>
                <a:path extrusionOk="0" h="12207" w="12207">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18"/>
            <p:cNvSpPr/>
            <p:nvPr/>
          </p:nvSpPr>
          <p:spPr>
            <a:xfrm>
              <a:off x="5604539" y="2487521"/>
              <a:ext cx="403225" cy="403225"/>
            </a:xfrm>
            <a:custGeom>
              <a:rect b="b" l="l" r="r" t="t"/>
              <a:pathLst>
                <a:path extrusionOk="0" h="12206" w="12206">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7" name="Google Shape;1667;p18"/>
          <p:cNvSpPr/>
          <p:nvPr/>
        </p:nvSpPr>
        <p:spPr>
          <a:xfrm>
            <a:off x="8403036" y="3661572"/>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68" name="Google Shape;1668;p18"/>
          <p:cNvGrpSpPr/>
          <p:nvPr/>
        </p:nvGrpSpPr>
        <p:grpSpPr>
          <a:xfrm>
            <a:off x="-333349" y="2817496"/>
            <a:ext cx="2187094" cy="2789634"/>
            <a:chOff x="3700202" y="2700338"/>
            <a:chExt cx="1654132" cy="2109842"/>
          </a:xfrm>
        </p:grpSpPr>
        <p:sp>
          <p:nvSpPr>
            <p:cNvPr id="1669" name="Google Shape;1669;p18"/>
            <p:cNvSpPr/>
            <p:nvPr/>
          </p:nvSpPr>
          <p:spPr>
            <a:xfrm>
              <a:off x="3700202" y="2700338"/>
              <a:ext cx="1654132" cy="2109842"/>
            </a:xfrm>
            <a:custGeom>
              <a:rect b="b" l="l" r="r" t="t"/>
              <a:pathLst>
                <a:path extrusionOk="0" h="63780" w="50004">
                  <a:moveTo>
                    <a:pt x="50004" y="50004"/>
                  </a:moveTo>
                  <a:lnTo>
                    <a:pt x="0" y="0"/>
                  </a:lnTo>
                  <a:lnTo>
                    <a:pt x="79" y="29993"/>
                  </a:lnTo>
                  <a:lnTo>
                    <a:pt x="33867" y="63780"/>
                  </a:lnTo>
                  <a:lnTo>
                    <a:pt x="50001" y="63703"/>
                  </a:lnTo>
                  <a:lnTo>
                    <a:pt x="50004" y="5000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p18"/>
            <p:cNvSpPr/>
            <p:nvPr/>
          </p:nvSpPr>
          <p:spPr>
            <a:xfrm>
              <a:off x="3703377" y="3690938"/>
              <a:ext cx="1117623" cy="1117589"/>
            </a:xfrm>
            <a:custGeom>
              <a:rect b="b" l="l" r="r" t="t"/>
              <a:pathLst>
                <a:path extrusionOk="0" h="33787" w="33788">
                  <a:moveTo>
                    <a:pt x="0" y="0"/>
                  </a:moveTo>
                  <a:lnTo>
                    <a:pt x="33788" y="33787"/>
                  </a:lnTo>
                  <a:lnTo>
                    <a:pt x="36" y="33751"/>
                  </a:lnTo>
                  <a:lnTo>
                    <a:pt x="0"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18"/>
            <p:cNvSpPr/>
            <p:nvPr/>
          </p:nvSpPr>
          <p:spPr>
            <a:xfrm>
              <a:off x="4057390" y="3656013"/>
              <a:ext cx="935041" cy="652454"/>
            </a:xfrm>
            <a:custGeom>
              <a:rect b="b" l="l" r="r" t="t"/>
              <a:pathLst>
                <a:path extrusionOk="0" h="19728" w="28281">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18"/>
            <p:cNvSpPr/>
            <p:nvPr/>
          </p:nvSpPr>
          <p:spPr>
            <a:xfrm>
              <a:off x="3746240" y="3967163"/>
              <a:ext cx="935041" cy="652471"/>
            </a:xfrm>
            <a:custGeom>
              <a:rect b="b" l="l" r="r" t="t"/>
              <a:pathLst>
                <a:path extrusionOk="0" h="19727" w="28281">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18"/>
            <p:cNvSpPr/>
            <p:nvPr/>
          </p:nvSpPr>
          <p:spPr>
            <a:xfrm>
              <a:off x="4128827" y="3976688"/>
              <a:ext cx="401633" cy="401633"/>
            </a:xfrm>
            <a:custGeom>
              <a:rect b="b" l="l" r="r" t="t"/>
              <a:pathLst>
                <a:path extrusionOk="0" h="12133" w="12133">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18"/>
            <p:cNvSpPr/>
            <p:nvPr/>
          </p:nvSpPr>
          <p:spPr>
            <a:xfrm>
              <a:off x="4211377" y="3895725"/>
              <a:ext cx="401633" cy="401633"/>
            </a:xfrm>
            <a:custGeom>
              <a:rect b="b" l="l" r="r" t="t"/>
              <a:pathLst>
                <a:path extrusionOk="0" h="12133" w="12133">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75" name="Google Shape;1675;p18"/>
          <p:cNvSpPr/>
          <p:nvPr/>
        </p:nvSpPr>
        <p:spPr>
          <a:xfrm>
            <a:off x="7659258" y="4402536"/>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6" name="Google Shape;1676;p18"/>
          <p:cNvGrpSpPr/>
          <p:nvPr/>
        </p:nvGrpSpPr>
        <p:grpSpPr>
          <a:xfrm>
            <a:off x="-520414" y="601975"/>
            <a:ext cx="1507871" cy="1510263"/>
            <a:chOff x="39184" y="-151930"/>
            <a:chExt cx="1309825" cy="1311903"/>
          </a:xfrm>
        </p:grpSpPr>
        <p:sp>
          <p:nvSpPr>
            <p:cNvPr id="1677" name="Google Shape;1677;p18"/>
            <p:cNvSpPr/>
            <p:nvPr/>
          </p:nvSpPr>
          <p:spPr>
            <a:xfrm>
              <a:off x="1304909" y="54495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18"/>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18"/>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18"/>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18"/>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18"/>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p18"/>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18"/>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p18"/>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p18"/>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18"/>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18"/>
            <p:cNvSpPr/>
            <p:nvPr/>
          </p:nvSpPr>
          <p:spPr>
            <a:xfrm>
              <a:off x="1105499" y="62891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18"/>
            <p:cNvSpPr/>
            <p:nvPr/>
          </p:nvSpPr>
          <p:spPr>
            <a:xfrm>
              <a:off x="1034132" y="70028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18"/>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p18"/>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18"/>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p18"/>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p18"/>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18"/>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p18"/>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p18"/>
            <p:cNvSpPr/>
            <p:nvPr/>
          </p:nvSpPr>
          <p:spPr>
            <a:xfrm>
              <a:off x="1046726" y="572240"/>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p18"/>
            <p:cNvSpPr/>
            <p:nvPr/>
          </p:nvSpPr>
          <p:spPr>
            <a:xfrm>
              <a:off x="975359" y="643608"/>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p18"/>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0" name="Google Shape;1700;p18"/>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18"/>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18"/>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18"/>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18"/>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18"/>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18"/>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p18"/>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18"/>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18"/>
            <p:cNvSpPr/>
            <p:nvPr/>
          </p:nvSpPr>
          <p:spPr>
            <a:xfrm>
              <a:off x="775949" y="727570"/>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p18"/>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18"/>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18"/>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p18"/>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18"/>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18"/>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p18"/>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18"/>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18"/>
            <p:cNvSpPr/>
            <p:nvPr/>
          </p:nvSpPr>
          <p:spPr>
            <a:xfrm>
              <a:off x="717176" y="66879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9" name="Google Shape;1719;p18"/>
            <p:cNvSpPr/>
            <p:nvPr/>
          </p:nvSpPr>
          <p:spPr>
            <a:xfrm>
              <a:off x="647907" y="740164"/>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18"/>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18"/>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18"/>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18"/>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18"/>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p18"/>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18"/>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18"/>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18"/>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18"/>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18"/>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18"/>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18"/>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18"/>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18"/>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p18"/>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18"/>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18"/>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18"/>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18"/>
            <p:cNvSpPr/>
            <p:nvPr/>
          </p:nvSpPr>
          <p:spPr>
            <a:xfrm>
              <a:off x="389725" y="765353"/>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18"/>
            <p:cNvSpPr/>
            <p:nvPr/>
          </p:nvSpPr>
          <p:spPr>
            <a:xfrm>
              <a:off x="899793" y="139837"/>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18"/>
            <p:cNvSpPr/>
            <p:nvPr/>
          </p:nvSpPr>
          <p:spPr>
            <a:xfrm>
              <a:off x="828425" y="211205"/>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18"/>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p18"/>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18"/>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18"/>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18"/>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18"/>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18"/>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18"/>
            <p:cNvSpPr/>
            <p:nvPr/>
          </p:nvSpPr>
          <p:spPr>
            <a:xfrm>
              <a:off x="841020" y="81064"/>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18"/>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18"/>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18"/>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18"/>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18"/>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18"/>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18"/>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18"/>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18"/>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18"/>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p18"/>
            <p:cNvSpPr/>
            <p:nvPr/>
          </p:nvSpPr>
          <p:spPr>
            <a:xfrm>
              <a:off x="641610" y="167125"/>
              <a:ext cx="44100" cy="420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p18"/>
            <p:cNvSpPr/>
            <p:nvPr/>
          </p:nvSpPr>
          <p:spPr>
            <a:xfrm>
              <a:off x="570243" y="236393"/>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p18"/>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18"/>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18"/>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18"/>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18"/>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p18"/>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18"/>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18"/>
            <p:cNvSpPr/>
            <p:nvPr/>
          </p:nvSpPr>
          <p:spPr>
            <a:xfrm>
              <a:off x="582837" y="108352"/>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18"/>
            <p:cNvSpPr/>
            <p:nvPr/>
          </p:nvSpPr>
          <p:spPr>
            <a:xfrm>
              <a:off x="511469" y="179719"/>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18"/>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18"/>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18"/>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4" name="Google Shape;1774;p18"/>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18"/>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18"/>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18"/>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p18"/>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p18"/>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18"/>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18"/>
            <p:cNvSpPr/>
            <p:nvPr/>
          </p:nvSpPr>
          <p:spPr>
            <a:xfrm>
              <a:off x="312060" y="263681"/>
              <a:ext cx="441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18"/>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18"/>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p18"/>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18"/>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18"/>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18"/>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18"/>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p18"/>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0" name="Google Shape;1790;p18"/>
            <p:cNvSpPr/>
            <p:nvPr/>
          </p:nvSpPr>
          <p:spPr>
            <a:xfrm>
              <a:off x="255386" y="204908"/>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p18"/>
            <p:cNvSpPr/>
            <p:nvPr/>
          </p:nvSpPr>
          <p:spPr>
            <a:xfrm>
              <a:off x="184018" y="276275"/>
              <a:ext cx="42000" cy="441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18"/>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18"/>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794" name="Shape 1794"/>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1">
    <p:spTree>
      <p:nvGrpSpPr>
        <p:cNvPr id="1795" name="Shape 1795"/>
        <p:cNvGrpSpPr/>
        <p:nvPr/>
      </p:nvGrpSpPr>
      <p:grpSpPr>
        <a:xfrm>
          <a:off x="0" y="0"/>
          <a:ext cx="0" cy="0"/>
          <a:chOff x="0" y="0"/>
          <a:chExt cx="0" cy="0"/>
        </a:xfrm>
      </p:grpSpPr>
      <p:sp>
        <p:nvSpPr>
          <p:cNvPr id="1796" name="Google Shape;1796;p20"/>
          <p:cNvSpPr txBox="1"/>
          <p:nvPr>
            <p:ph type="title"/>
          </p:nvPr>
        </p:nvSpPr>
        <p:spPr>
          <a:xfrm>
            <a:off x="723900" y="552449"/>
            <a:ext cx="7696200" cy="639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b="0"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7" name="Google Shape;1797;p20"/>
          <p:cNvSpPr/>
          <p:nvPr/>
        </p:nvSpPr>
        <p:spPr>
          <a:xfrm>
            <a:off x="8420420" y="4398962"/>
            <a:ext cx="740961" cy="740961"/>
          </a:xfrm>
          <a:custGeom>
            <a:rect b="b" l="l" r="r" t="t"/>
            <a:pathLst>
              <a:path extrusionOk="0" h="16944" w="16944">
                <a:moveTo>
                  <a:pt x="16944" y="0"/>
                </a:moveTo>
                <a:lnTo>
                  <a:pt x="16944" y="16944"/>
                </a:lnTo>
                <a:lnTo>
                  <a:pt x="0" y="16944"/>
                </a:lnTo>
                <a:lnTo>
                  <a:pt x="0" y="12436"/>
                </a:lnTo>
                <a:cubicBezTo>
                  <a:pt x="0" y="5568"/>
                  <a:pt x="5567" y="0"/>
                  <a:pt x="12435" y="0"/>
                </a:cubicBezTo>
                <a:lnTo>
                  <a:pt x="1694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98" name="Google Shape;1798;p20"/>
          <p:cNvGrpSpPr/>
          <p:nvPr/>
        </p:nvGrpSpPr>
        <p:grpSpPr>
          <a:xfrm>
            <a:off x="-481750" y="4102340"/>
            <a:ext cx="1507871" cy="1510263"/>
            <a:chOff x="39184" y="-151930"/>
            <a:chExt cx="1309825" cy="1311903"/>
          </a:xfrm>
        </p:grpSpPr>
        <p:sp>
          <p:nvSpPr>
            <p:cNvPr id="1799" name="Google Shape;1799;p20"/>
            <p:cNvSpPr/>
            <p:nvPr/>
          </p:nvSpPr>
          <p:spPr>
            <a:xfrm>
              <a:off x="1304909" y="544953"/>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20"/>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20"/>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20"/>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20"/>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p20"/>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p20"/>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p20"/>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7" name="Google Shape;1807;p20"/>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p20"/>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p20"/>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p20"/>
            <p:cNvSpPr/>
            <p:nvPr/>
          </p:nvSpPr>
          <p:spPr>
            <a:xfrm>
              <a:off x="1105499" y="628915"/>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p20"/>
            <p:cNvSpPr/>
            <p:nvPr/>
          </p:nvSpPr>
          <p:spPr>
            <a:xfrm>
              <a:off x="1034132" y="700282"/>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p20"/>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p20"/>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p20"/>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20"/>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20"/>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20"/>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p20"/>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p20"/>
            <p:cNvSpPr/>
            <p:nvPr/>
          </p:nvSpPr>
          <p:spPr>
            <a:xfrm>
              <a:off x="1046726" y="572240"/>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20"/>
            <p:cNvSpPr/>
            <p:nvPr/>
          </p:nvSpPr>
          <p:spPr>
            <a:xfrm>
              <a:off x="975359" y="643608"/>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20"/>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20"/>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20"/>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p20"/>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20"/>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20"/>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20"/>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p20"/>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20"/>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20"/>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p20"/>
            <p:cNvSpPr/>
            <p:nvPr/>
          </p:nvSpPr>
          <p:spPr>
            <a:xfrm>
              <a:off x="775949" y="727570"/>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p20"/>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20"/>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20"/>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5" name="Google Shape;1835;p20"/>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20"/>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20"/>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20"/>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20"/>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20"/>
            <p:cNvSpPr/>
            <p:nvPr/>
          </p:nvSpPr>
          <p:spPr>
            <a:xfrm>
              <a:off x="717176" y="668797"/>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20"/>
            <p:cNvSpPr/>
            <p:nvPr/>
          </p:nvSpPr>
          <p:spPr>
            <a:xfrm>
              <a:off x="647907" y="740164"/>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p20"/>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3" name="Google Shape;1843;p20"/>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p20"/>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p20"/>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p20"/>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20"/>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20"/>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p20"/>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20"/>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p20"/>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2" name="Google Shape;1852;p20"/>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20"/>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p20"/>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p20"/>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20"/>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20"/>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20"/>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20"/>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20"/>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20"/>
            <p:cNvSpPr/>
            <p:nvPr/>
          </p:nvSpPr>
          <p:spPr>
            <a:xfrm>
              <a:off x="389725" y="765353"/>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20"/>
            <p:cNvSpPr/>
            <p:nvPr/>
          </p:nvSpPr>
          <p:spPr>
            <a:xfrm>
              <a:off x="899793" y="139837"/>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20"/>
            <p:cNvSpPr/>
            <p:nvPr/>
          </p:nvSpPr>
          <p:spPr>
            <a:xfrm>
              <a:off x="828425" y="211205"/>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20"/>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p20"/>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20"/>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p20"/>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20"/>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20"/>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20"/>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20"/>
            <p:cNvSpPr/>
            <p:nvPr/>
          </p:nvSpPr>
          <p:spPr>
            <a:xfrm>
              <a:off x="841020" y="81064"/>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20"/>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p20"/>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20"/>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20"/>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p20"/>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20"/>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20"/>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20"/>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p20"/>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20"/>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p20"/>
            <p:cNvSpPr/>
            <p:nvPr/>
          </p:nvSpPr>
          <p:spPr>
            <a:xfrm>
              <a:off x="641610" y="167125"/>
              <a:ext cx="44100" cy="420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p20"/>
            <p:cNvSpPr/>
            <p:nvPr/>
          </p:nvSpPr>
          <p:spPr>
            <a:xfrm>
              <a:off x="570243" y="236393"/>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20"/>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5" name="Google Shape;1885;p20"/>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p20"/>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20"/>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8" name="Google Shape;1888;p20"/>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p20"/>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20"/>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20"/>
            <p:cNvSpPr/>
            <p:nvPr/>
          </p:nvSpPr>
          <p:spPr>
            <a:xfrm>
              <a:off x="582837" y="108352"/>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20"/>
            <p:cNvSpPr/>
            <p:nvPr/>
          </p:nvSpPr>
          <p:spPr>
            <a:xfrm>
              <a:off x="511469" y="179719"/>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20"/>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20"/>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p20"/>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20"/>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20"/>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20"/>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20"/>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20"/>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20"/>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20"/>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20"/>
            <p:cNvSpPr/>
            <p:nvPr/>
          </p:nvSpPr>
          <p:spPr>
            <a:xfrm>
              <a:off x="312060" y="263681"/>
              <a:ext cx="441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20"/>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20"/>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20"/>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20"/>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20"/>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p20"/>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20"/>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20"/>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20"/>
            <p:cNvSpPr/>
            <p:nvPr/>
          </p:nvSpPr>
          <p:spPr>
            <a:xfrm>
              <a:off x="255386" y="204908"/>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20"/>
            <p:cNvSpPr/>
            <p:nvPr/>
          </p:nvSpPr>
          <p:spPr>
            <a:xfrm>
              <a:off x="184018" y="276275"/>
              <a:ext cx="42000" cy="44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20"/>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20"/>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6" name="Google Shape;1916;p20"/>
          <p:cNvGrpSpPr/>
          <p:nvPr/>
        </p:nvGrpSpPr>
        <p:grpSpPr>
          <a:xfrm flipH="1">
            <a:off x="8632879" y="-120500"/>
            <a:ext cx="1507871" cy="1510263"/>
            <a:chOff x="39184" y="-151930"/>
            <a:chExt cx="1309825" cy="1311903"/>
          </a:xfrm>
        </p:grpSpPr>
        <p:sp>
          <p:nvSpPr>
            <p:cNvPr id="1917" name="Google Shape;1917;p20"/>
            <p:cNvSpPr/>
            <p:nvPr/>
          </p:nvSpPr>
          <p:spPr>
            <a:xfrm>
              <a:off x="1304909" y="544953"/>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20"/>
            <p:cNvSpPr/>
            <p:nvPr/>
          </p:nvSpPr>
          <p:spPr>
            <a:xfrm>
              <a:off x="1231442" y="614221"/>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20"/>
            <p:cNvSpPr/>
            <p:nvPr/>
          </p:nvSpPr>
          <p:spPr>
            <a:xfrm>
              <a:off x="1160075" y="685588"/>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20"/>
            <p:cNvSpPr/>
            <p:nvPr/>
          </p:nvSpPr>
          <p:spPr>
            <a:xfrm>
              <a:off x="1088707" y="756956"/>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20"/>
            <p:cNvSpPr/>
            <p:nvPr/>
          </p:nvSpPr>
          <p:spPr>
            <a:xfrm>
              <a:off x="1019439" y="828324"/>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20"/>
            <p:cNvSpPr/>
            <p:nvPr/>
          </p:nvSpPr>
          <p:spPr>
            <a:xfrm>
              <a:off x="948072" y="899691"/>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20"/>
            <p:cNvSpPr/>
            <p:nvPr/>
          </p:nvSpPr>
          <p:spPr>
            <a:xfrm>
              <a:off x="876704" y="968960"/>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20"/>
            <p:cNvSpPr/>
            <p:nvPr/>
          </p:nvSpPr>
          <p:spPr>
            <a:xfrm>
              <a:off x="805336" y="1040328"/>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20"/>
            <p:cNvSpPr/>
            <p:nvPr/>
          </p:nvSpPr>
          <p:spPr>
            <a:xfrm>
              <a:off x="733969" y="1111695"/>
              <a:ext cx="482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20"/>
            <p:cNvSpPr/>
            <p:nvPr/>
          </p:nvSpPr>
          <p:spPr>
            <a:xfrm>
              <a:off x="1244036" y="486180"/>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20"/>
            <p:cNvSpPr/>
            <p:nvPr/>
          </p:nvSpPr>
          <p:spPr>
            <a:xfrm>
              <a:off x="1174769" y="557547"/>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20"/>
            <p:cNvSpPr/>
            <p:nvPr/>
          </p:nvSpPr>
          <p:spPr>
            <a:xfrm>
              <a:off x="1105499" y="628915"/>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20"/>
            <p:cNvSpPr/>
            <p:nvPr/>
          </p:nvSpPr>
          <p:spPr>
            <a:xfrm>
              <a:off x="1034132" y="700282"/>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20"/>
            <p:cNvSpPr/>
            <p:nvPr/>
          </p:nvSpPr>
          <p:spPr>
            <a:xfrm>
              <a:off x="960666" y="769550"/>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20"/>
            <p:cNvSpPr/>
            <p:nvPr/>
          </p:nvSpPr>
          <p:spPr>
            <a:xfrm>
              <a:off x="889298" y="84091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20"/>
            <p:cNvSpPr/>
            <p:nvPr/>
          </p:nvSpPr>
          <p:spPr>
            <a:xfrm>
              <a:off x="817931" y="912285"/>
              <a:ext cx="482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20"/>
            <p:cNvSpPr/>
            <p:nvPr/>
          </p:nvSpPr>
          <p:spPr>
            <a:xfrm>
              <a:off x="748662" y="983653"/>
              <a:ext cx="46178" cy="46179"/>
            </a:xfrm>
            <a:custGeom>
              <a:rect b="b" l="l" r="r" t="t"/>
              <a:pathLst>
                <a:path extrusionOk="0" h="1095" w="1094">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20"/>
            <p:cNvSpPr/>
            <p:nvPr/>
          </p:nvSpPr>
          <p:spPr>
            <a:xfrm>
              <a:off x="677294" y="1052922"/>
              <a:ext cx="46178" cy="48278"/>
            </a:xfrm>
            <a:custGeom>
              <a:rect b="b" l="l" r="r" t="t"/>
              <a:pathLst>
                <a:path extrusionOk="0" h="1094" w="1094">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20"/>
            <p:cNvSpPr/>
            <p:nvPr/>
          </p:nvSpPr>
          <p:spPr>
            <a:xfrm>
              <a:off x="1187363" y="427407"/>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20"/>
            <p:cNvSpPr/>
            <p:nvPr/>
          </p:nvSpPr>
          <p:spPr>
            <a:xfrm>
              <a:off x="1115995" y="498774"/>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20"/>
            <p:cNvSpPr/>
            <p:nvPr/>
          </p:nvSpPr>
          <p:spPr>
            <a:xfrm>
              <a:off x="1046726" y="572240"/>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p20"/>
            <p:cNvSpPr/>
            <p:nvPr/>
          </p:nvSpPr>
          <p:spPr>
            <a:xfrm>
              <a:off x="975359" y="643608"/>
              <a:ext cx="44100" cy="420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20"/>
            <p:cNvSpPr/>
            <p:nvPr/>
          </p:nvSpPr>
          <p:spPr>
            <a:xfrm>
              <a:off x="901893" y="710777"/>
              <a:ext cx="48279" cy="48278"/>
            </a:xfrm>
            <a:custGeom>
              <a:rect b="b" l="l" r="r" t="t"/>
              <a:pathLst>
                <a:path extrusionOk="0" h="1094" w="1095">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20"/>
            <p:cNvSpPr/>
            <p:nvPr/>
          </p:nvSpPr>
          <p:spPr>
            <a:xfrm>
              <a:off x="832623" y="782145"/>
              <a:ext cx="46178" cy="482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20"/>
            <p:cNvSpPr/>
            <p:nvPr/>
          </p:nvSpPr>
          <p:spPr>
            <a:xfrm>
              <a:off x="761256" y="853512"/>
              <a:ext cx="48278" cy="48279"/>
            </a:xfrm>
            <a:custGeom>
              <a:rect b="b" l="l" r="r" t="t"/>
              <a:pathLst>
                <a:path extrusionOk="0" h="1095" w="1094">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20"/>
            <p:cNvSpPr/>
            <p:nvPr/>
          </p:nvSpPr>
          <p:spPr>
            <a:xfrm>
              <a:off x="689888" y="92488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20"/>
            <p:cNvSpPr/>
            <p:nvPr/>
          </p:nvSpPr>
          <p:spPr>
            <a:xfrm>
              <a:off x="618521" y="996247"/>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20"/>
            <p:cNvSpPr/>
            <p:nvPr/>
          </p:nvSpPr>
          <p:spPr>
            <a:xfrm>
              <a:off x="1128589" y="370732"/>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20"/>
            <p:cNvSpPr/>
            <p:nvPr/>
          </p:nvSpPr>
          <p:spPr>
            <a:xfrm>
              <a:off x="1057221" y="440001"/>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20"/>
            <p:cNvSpPr/>
            <p:nvPr/>
          </p:nvSpPr>
          <p:spPr>
            <a:xfrm>
              <a:off x="985854" y="511368"/>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p20"/>
            <p:cNvSpPr/>
            <p:nvPr/>
          </p:nvSpPr>
          <p:spPr>
            <a:xfrm>
              <a:off x="916585" y="582736"/>
              <a:ext cx="46179" cy="48279"/>
            </a:xfrm>
            <a:custGeom>
              <a:rect b="b" l="l" r="r" t="t"/>
              <a:pathLst>
                <a:path extrusionOk="0" h="1095" w="1095">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p20"/>
            <p:cNvSpPr/>
            <p:nvPr/>
          </p:nvSpPr>
          <p:spPr>
            <a:xfrm>
              <a:off x="845218" y="654104"/>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20"/>
            <p:cNvSpPr/>
            <p:nvPr/>
          </p:nvSpPr>
          <p:spPr>
            <a:xfrm>
              <a:off x="775949" y="727570"/>
              <a:ext cx="44100" cy="420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20"/>
            <p:cNvSpPr/>
            <p:nvPr/>
          </p:nvSpPr>
          <p:spPr>
            <a:xfrm>
              <a:off x="702483" y="796839"/>
              <a:ext cx="48279" cy="461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p20"/>
            <p:cNvSpPr/>
            <p:nvPr/>
          </p:nvSpPr>
          <p:spPr>
            <a:xfrm>
              <a:off x="631115" y="866107"/>
              <a:ext cx="48279" cy="48279"/>
            </a:xfrm>
            <a:custGeom>
              <a:rect b="b" l="l" r="r" t="t"/>
              <a:pathLst>
                <a:path extrusionOk="0" h="1095" w="1095">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20"/>
            <p:cNvSpPr/>
            <p:nvPr/>
          </p:nvSpPr>
          <p:spPr>
            <a:xfrm>
              <a:off x="559747" y="93747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20"/>
            <p:cNvSpPr/>
            <p:nvPr/>
          </p:nvSpPr>
          <p:spPr>
            <a:xfrm>
              <a:off x="1071915" y="311959"/>
              <a:ext cx="461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20"/>
            <p:cNvSpPr/>
            <p:nvPr/>
          </p:nvSpPr>
          <p:spPr>
            <a:xfrm>
              <a:off x="1000547" y="383327"/>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20"/>
            <p:cNvSpPr/>
            <p:nvPr/>
          </p:nvSpPr>
          <p:spPr>
            <a:xfrm>
              <a:off x="929180" y="454694"/>
              <a:ext cx="48278" cy="46179"/>
            </a:xfrm>
            <a:custGeom>
              <a:rect b="b" l="l" r="r" t="t"/>
              <a:pathLst>
                <a:path extrusionOk="0" h="1095" w="1094">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20"/>
            <p:cNvSpPr/>
            <p:nvPr/>
          </p:nvSpPr>
          <p:spPr>
            <a:xfrm>
              <a:off x="857812" y="523963"/>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20"/>
            <p:cNvSpPr/>
            <p:nvPr/>
          </p:nvSpPr>
          <p:spPr>
            <a:xfrm>
              <a:off x="786444" y="595330"/>
              <a:ext cx="48278" cy="482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20"/>
            <p:cNvSpPr/>
            <p:nvPr/>
          </p:nvSpPr>
          <p:spPr>
            <a:xfrm>
              <a:off x="717176" y="668797"/>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20"/>
            <p:cNvSpPr/>
            <p:nvPr/>
          </p:nvSpPr>
          <p:spPr>
            <a:xfrm>
              <a:off x="647907" y="740164"/>
              <a:ext cx="420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20"/>
            <p:cNvSpPr/>
            <p:nvPr/>
          </p:nvSpPr>
          <p:spPr>
            <a:xfrm>
              <a:off x="574441" y="809433"/>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20"/>
            <p:cNvSpPr/>
            <p:nvPr/>
          </p:nvSpPr>
          <p:spPr>
            <a:xfrm>
              <a:off x="503073" y="880800"/>
              <a:ext cx="48278" cy="46178"/>
            </a:xfrm>
            <a:custGeom>
              <a:rect b="b" l="l" r="r" t="t"/>
              <a:pathLst>
                <a:path extrusionOk="0" h="1094" w="1094">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20"/>
            <p:cNvSpPr/>
            <p:nvPr/>
          </p:nvSpPr>
          <p:spPr>
            <a:xfrm>
              <a:off x="1013141" y="253186"/>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20"/>
            <p:cNvSpPr/>
            <p:nvPr/>
          </p:nvSpPr>
          <p:spPr>
            <a:xfrm>
              <a:off x="941774" y="324553"/>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p20"/>
            <p:cNvSpPr/>
            <p:nvPr/>
          </p:nvSpPr>
          <p:spPr>
            <a:xfrm>
              <a:off x="870406" y="395921"/>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20"/>
            <p:cNvSpPr/>
            <p:nvPr/>
          </p:nvSpPr>
          <p:spPr>
            <a:xfrm>
              <a:off x="799039" y="467288"/>
              <a:ext cx="48279" cy="48278"/>
            </a:xfrm>
            <a:custGeom>
              <a:rect b="b" l="l" r="r" t="t"/>
              <a:pathLst>
                <a:path extrusionOk="0" h="1094" w="1095">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20"/>
            <p:cNvSpPr/>
            <p:nvPr/>
          </p:nvSpPr>
          <p:spPr>
            <a:xfrm>
              <a:off x="729770" y="538656"/>
              <a:ext cx="46179" cy="461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p20"/>
            <p:cNvSpPr/>
            <p:nvPr/>
          </p:nvSpPr>
          <p:spPr>
            <a:xfrm>
              <a:off x="658403" y="607925"/>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20"/>
            <p:cNvSpPr/>
            <p:nvPr/>
          </p:nvSpPr>
          <p:spPr>
            <a:xfrm>
              <a:off x="587035" y="679292"/>
              <a:ext cx="482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20"/>
            <p:cNvSpPr/>
            <p:nvPr/>
          </p:nvSpPr>
          <p:spPr>
            <a:xfrm>
              <a:off x="515667" y="750660"/>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p20"/>
            <p:cNvSpPr/>
            <p:nvPr/>
          </p:nvSpPr>
          <p:spPr>
            <a:xfrm>
              <a:off x="444300" y="822027"/>
              <a:ext cx="482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p20"/>
            <p:cNvSpPr/>
            <p:nvPr/>
          </p:nvSpPr>
          <p:spPr>
            <a:xfrm>
              <a:off x="954368" y="196512"/>
              <a:ext cx="48278" cy="461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p20"/>
            <p:cNvSpPr/>
            <p:nvPr/>
          </p:nvSpPr>
          <p:spPr>
            <a:xfrm>
              <a:off x="885100" y="267879"/>
              <a:ext cx="461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p20"/>
            <p:cNvSpPr/>
            <p:nvPr/>
          </p:nvSpPr>
          <p:spPr>
            <a:xfrm>
              <a:off x="813732" y="337148"/>
              <a:ext cx="461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20"/>
            <p:cNvSpPr/>
            <p:nvPr/>
          </p:nvSpPr>
          <p:spPr>
            <a:xfrm>
              <a:off x="742364" y="408515"/>
              <a:ext cx="48279" cy="48278"/>
            </a:xfrm>
            <a:custGeom>
              <a:rect b="b" l="l" r="r" t="t"/>
              <a:pathLst>
                <a:path extrusionOk="0" h="1094" w="1095">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p20"/>
            <p:cNvSpPr/>
            <p:nvPr/>
          </p:nvSpPr>
          <p:spPr>
            <a:xfrm>
              <a:off x="670997" y="47988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p20"/>
            <p:cNvSpPr/>
            <p:nvPr/>
          </p:nvSpPr>
          <p:spPr>
            <a:xfrm>
              <a:off x="599629" y="55125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20"/>
            <p:cNvSpPr/>
            <p:nvPr/>
          </p:nvSpPr>
          <p:spPr>
            <a:xfrm>
              <a:off x="528262" y="622618"/>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20"/>
            <p:cNvSpPr/>
            <p:nvPr/>
          </p:nvSpPr>
          <p:spPr>
            <a:xfrm>
              <a:off x="456894" y="693985"/>
              <a:ext cx="48278" cy="46179"/>
            </a:xfrm>
            <a:custGeom>
              <a:rect b="b" l="l" r="r" t="t"/>
              <a:pathLst>
                <a:path extrusionOk="0" h="1095" w="1094">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20"/>
            <p:cNvSpPr/>
            <p:nvPr/>
          </p:nvSpPr>
          <p:spPr>
            <a:xfrm>
              <a:off x="389725" y="765353"/>
              <a:ext cx="420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20"/>
            <p:cNvSpPr/>
            <p:nvPr/>
          </p:nvSpPr>
          <p:spPr>
            <a:xfrm>
              <a:off x="899793" y="139837"/>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20"/>
            <p:cNvSpPr/>
            <p:nvPr/>
          </p:nvSpPr>
          <p:spPr>
            <a:xfrm>
              <a:off x="828425" y="211205"/>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20"/>
            <p:cNvSpPr/>
            <p:nvPr/>
          </p:nvSpPr>
          <p:spPr>
            <a:xfrm>
              <a:off x="754959" y="280473"/>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20"/>
            <p:cNvSpPr/>
            <p:nvPr/>
          </p:nvSpPr>
          <p:spPr>
            <a:xfrm>
              <a:off x="683591" y="351841"/>
              <a:ext cx="48279" cy="461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20"/>
            <p:cNvSpPr/>
            <p:nvPr/>
          </p:nvSpPr>
          <p:spPr>
            <a:xfrm>
              <a:off x="612224" y="421109"/>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20"/>
            <p:cNvSpPr/>
            <p:nvPr/>
          </p:nvSpPr>
          <p:spPr>
            <a:xfrm>
              <a:off x="542955" y="492477"/>
              <a:ext cx="46178" cy="482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20"/>
            <p:cNvSpPr/>
            <p:nvPr/>
          </p:nvSpPr>
          <p:spPr>
            <a:xfrm>
              <a:off x="471587" y="563845"/>
              <a:ext cx="48278" cy="48278"/>
            </a:xfrm>
            <a:custGeom>
              <a:rect b="b" l="l" r="r" t="t"/>
              <a:pathLst>
                <a:path extrusionOk="0" h="1094" w="1094">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20"/>
            <p:cNvSpPr/>
            <p:nvPr/>
          </p:nvSpPr>
          <p:spPr>
            <a:xfrm>
              <a:off x="400220" y="635212"/>
              <a:ext cx="48279" cy="48279"/>
            </a:xfrm>
            <a:custGeom>
              <a:rect b="b" l="l" r="r" t="t"/>
              <a:pathLst>
                <a:path extrusionOk="0" h="1095" w="1095">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20"/>
            <p:cNvSpPr/>
            <p:nvPr/>
          </p:nvSpPr>
          <p:spPr>
            <a:xfrm>
              <a:off x="328852" y="70658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20"/>
            <p:cNvSpPr/>
            <p:nvPr/>
          </p:nvSpPr>
          <p:spPr>
            <a:xfrm>
              <a:off x="841020" y="81064"/>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20"/>
            <p:cNvSpPr/>
            <p:nvPr/>
          </p:nvSpPr>
          <p:spPr>
            <a:xfrm>
              <a:off x="767553" y="150333"/>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20"/>
            <p:cNvSpPr/>
            <p:nvPr/>
          </p:nvSpPr>
          <p:spPr>
            <a:xfrm>
              <a:off x="696185" y="221700"/>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20"/>
            <p:cNvSpPr/>
            <p:nvPr/>
          </p:nvSpPr>
          <p:spPr>
            <a:xfrm>
              <a:off x="626917" y="293068"/>
              <a:ext cx="461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20"/>
            <p:cNvSpPr/>
            <p:nvPr/>
          </p:nvSpPr>
          <p:spPr>
            <a:xfrm>
              <a:off x="555549" y="36443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20"/>
            <p:cNvSpPr/>
            <p:nvPr/>
          </p:nvSpPr>
          <p:spPr>
            <a:xfrm>
              <a:off x="484182" y="435803"/>
              <a:ext cx="48279" cy="461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20"/>
            <p:cNvSpPr/>
            <p:nvPr/>
          </p:nvSpPr>
          <p:spPr>
            <a:xfrm>
              <a:off x="412814" y="507170"/>
              <a:ext cx="48279" cy="461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20"/>
            <p:cNvSpPr/>
            <p:nvPr/>
          </p:nvSpPr>
          <p:spPr>
            <a:xfrm>
              <a:off x="341447" y="576439"/>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20"/>
            <p:cNvSpPr/>
            <p:nvPr/>
          </p:nvSpPr>
          <p:spPr>
            <a:xfrm>
              <a:off x="270079" y="64780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p20"/>
            <p:cNvSpPr/>
            <p:nvPr/>
          </p:nvSpPr>
          <p:spPr>
            <a:xfrm>
              <a:off x="782246" y="22291"/>
              <a:ext cx="46179" cy="48279"/>
            </a:xfrm>
            <a:custGeom>
              <a:rect b="b" l="l" r="r" t="t"/>
              <a:pathLst>
                <a:path extrusionOk="0" h="1095" w="1095">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20"/>
            <p:cNvSpPr/>
            <p:nvPr/>
          </p:nvSpPr>
          <p:spPr>
            <a:xfrm>
              <a:off x="710879" y="93658"/>
              <a:ext cx="48278" cy="48278"/>
            </a:xfrm>
            <a:custGeom>
              <a:rect b="b" l="l" r="r" t="t"/>
              <a:pathLst>
                <a:path extrusionOk="0" h="1094" w="1094">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20"/>
            <p:cNvSpPr/>
            <p:nvPr/>
          </p:nvSpPr>
          <p:spPr>
            <a:xfrm>
              <a:off x="641610" y="167125"/>
              <a:ext cx="44100" cy="420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20"/>
            <p:cNvSpPr/>
            <p:nvPr/>
          </p:nvSpPr>
          <p:spPr>
            <a:xfrm>
              <a:off x="570243" y="236393"/>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20"/>
            <p:cNvSpPr/>
            <p:nvPr/>
          </p:nvSpPr>
          <p:spPr>
            <a:xfrm>
              <a:off x="496776" y="305662"/>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20"/>
            <p:cNvSpPr/>
            <p:nvPr/>
          </p:nvSpPr>
          <p:spPr>
            <a:xfrm>
              <a:off x="425408" y="377030"/>
              <a:ext cx="482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p20"/>
            <p:cNvSpPr/>
            <p:nvPr/>
          </p:nvSpPr>
          <p:spPr>
            <a:xfrm>
              <a:off x="356140" y="448397"/>
              <a:ext cx="461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20"/>
            <p:cNvSpPr/>
            <p:nvPr/>
          </p:nvSpPr>
          <p:spPr>
            <a:xfrm>
              <a:off x="284772" y="519765"/>
              <a:ext cx="461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p20"/>
            <p:cNvSpPr/>
            <p:nvPr/>
          </p:nvSpPr>
          <p:spPr>
            <a:xfrm>
              <a:off x="213405" y="591132"/>
              <a:ext cx="48278" cy="46178"/>
            </a:xfrm>
            <a:custGeom>
              <a:rect b="b" l="l" r="r" t="t"/>
              <a:pathLst>
                <a:path extrusionOk="0" h="1094" w="1094">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20"/>
            <p:cNvSpPr/>
            <p:nvPr/>
          </p:nvSpPr>
          <p:spPr>
            <a:xfrm>
              <a:off x="723473" y="-36482"/>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20"/>
            <p:cNvSpPr/>
            <p:nvPr/>
          </p:nvSpPr>
          <p:spPr>
            <a:xfrm>
              <a:off x="652105" y="34885"/>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20"/>
            <p:cNvSpPr/>
            <p:nvPr/>
          </p:nvSpPr>
          <p:spPr>
            <a:xfrm>
              <a:off x="582837" y="108352"/>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20"/>
            <p:cNvSpPr/>
            <p:nvPr/>
          </p:nvSpPr>
          <p:spPr>
            <a:xfrm>
              <a:off x="511469" y="179719"/>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20"/>
            <p:cNvSpPr/>
            <p:nvPr/>
          </p:nvSpPr>
          <p:spPr>
            <a:xfrm>
              <a:off x="440102" y="248988"/>
              <a:ext cx="46179" cy="461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p20"/>
            <p:cNvSpPr/>
            <p:nvPr/>
          </p:nvSpPr>
          <p:spPr>
            <a:xfrm>
              <a:off x="368734" y="318256"/>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20"/>
            <p:cNvSpPr/>
            <p:nvPr/>
          </p:nvSpPr>
          <p:spPr>
            <a:xfrm>
              <a:off x="297367" y="389624"/>
              <a:ext cx="48278" cy="482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20"/>
            <p:cNvSpPr/>
            <p:nvPr/>
          </p:nvSpPr>
          <p:spPr>
            <a:xfrm>
              <a:off x="225999" y="460991"/>
              <a:ext cx="48278" cy="48279"/>
            </a:xfrm>
            <a:custGeom>
              <a:rect b="b" l="l" r="r" t="t"/>
              <a:pathLst>
                <a:path extrusionOk="0" h="1095" w="1094">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20"/>
            <p:cNvSpPr/>
            <p:nvPr/>
          </p:nvSpPr>
          <p:spPr>
            <a:xfrm>
              <a:off x="154631" y="532359"/>
              <a:ext cx="48279" cy="48279"/>
            </a:xfrm>
            <a:custGeom>
              <a:rect b="b" l="l" r="r" t="t"/>
              <a:pathLst>
                <a:path extrusionOk="0" h="1095" w="1095">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p20"/>
            <p:cNvSpPr/>
            <p:nvPr/>
          </p:nvSpPr>
          <p:spPr>
            <a:xfrm>
              <a:off x="664700" y="-93157"/>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20"/>
            <p:cNvSpPr/>
            <p:nvPr/>
          </p:nvSpPr>
          <p:spPr>
            <a:xfrm>
              <a:off x="593332" y="-23888"/>
              <a:ext cx="48279" cy="482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20"/>
            <p:cNvSpPr/>
            <p:nvPr/>
          </p:nvSpPr>
          <p:spPr>
            <a:xfrm>
              <a:off x="524064" y="47479"/>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p20"/>
            <p:cNvSpPr/>
            <p:nvPr/>
          </p:nvSpPr>
          <p:spPr>
            <a:xfrm>
              <a:off x="452696" y="118847"/>
              <a:ext cx="48279" cy="48279"/>
            </a:xfrm>
            <a:custGeom>
              <a:rect b="b" l="l" r="r" t="t"/>
              <a:pathLst>
                <a:path extrusionOk="0" h="1095" w="1095">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20"/>
            <p:cNvSpPr/>
            <p:nvPr/>
          </p:nvSpPr>
          <p:spPr>
            <a:xfrm>
              <a:off x="381328" y="190214"/>
              <a:ext cx="48279" cy="48278"/>
            </a:xfrm>
            <a:custGeom>
              <a:rect b="b" l="l" r="r" t="t"/>
              <a:pathLst>
                <a:path extrusionOk="0" h="1094" w="1095">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p20"/>
            <p:cNvSpPr/>
            <p:nvPr/>
          </p:nvSpPr>
          <p:spPr>
            <a:xfrm>
              <a:off x="312060" y="263681"/>
              <a:ext cx="441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20"/>
            <p:cNvSpPr/>
            <p:nvPr/>
          </p:nvSpPr>
          <p:spPr>
            <a:xfrm>
              <a:off x="238593" y="332950"/>
              <a:ext cx="48278" cy="46179"/>
            </a:xfrm>
            <a:custGeom>
              <a:rect b="b" l="l" r="r" t="t"/>
              <a:pathLst>
                <a:path extrusionOk="0" h="1095" w="1094">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20"/>
            <p:cNvSpPr/>
            <p:nvPr/>
          </p:nvSpPr>
          <p:spPr>
            <a:xfrm>
              <a:off x="167226" y="404317"/>
              <a:ext cx="48279" cy="46179"/>
            </a:xfrm>
            <a:custGeom>
              <a:rect b="b" l="l" r="r" t="t"/>
              <a:pathLst>
                <a:path extrusionOk="0" h="1095" w="1095">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20"/>
            <p:cNvSpPr/>
            <p:nvPr/>
          </p:nvSpPr>
          <p:spPr>
            <a:xfrm>
              <a:off x="97957" y="473586"/>
              <a:ext cx="46179" cy="48279"/>
            </a:xfrm>
            <a:custGeom>
              <a:rect b="b" l="l" r="r" t="t"/>
              <a:pathLst>
                <a:path extrusionOk="0" h="1095" w="1095">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20"/>
            <p:cNvSpPr/>
            <p:nvPr/>
          </p:nvSpPr>
          <p:spPr>
            <a:xfrm>
              <a:off x="608025" y="-151930"/>
              <a:ext cx="48279" cy="48278"/>
            </a:xfrm>
            <a:custGeom>
              <a:rect b="b" l="l" r="r" t="t"/>
              <a:pathLst>
                <a:path extrusionOk="0" h="1094" w="1095">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20"/>
            <p:cNvSpPr/>
            <p:nvPr/>
          </p:nvSpPr>
          <p:spPr>
            <a:xfrm>
              <a:off x="536658" y="-80562"/>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p20"/>
            <p:cNvSpPr/>
            <p:nvPr/>
          </p:nvSpPr>
          <p:spPr>
            <a:xfrm>
              <a:off x="465290" y="-9195"/>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20"/>
            <p:cNvSpPr/>
            <p:nvPr/>
          </p:nvSpPr>
          <p:spPr>
            <a:xfrm>
              <a:off x="393923" y="62173"/>
              <a:ext cx="48278" cy="46179"/>
            </a:xfrm>
            <a:custGeom>
              <a:rect b="b" l="l" r="r" t="t"/>
              <a:pathLst>
                <a:path extrusionOk="0" h="1095" w="1094">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20"/>
            <p:cNvSpPr/>
            <p:nvPr/>
          </p:nvSpPr>
          <p:spPr>
            <a:xfrm>
              <a:off x="322555" y="131441"/>
              <a:ext cx="48278" cy="48279"/>
            </a:xfrm>
            <a:custGeom>
              <a:rect b="b" l="l" r="r" t="t"/>
              <a:pathLst>
                <a:path extrusionOk="0" h="1095" w="1094">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20"/>
            <p:cNvSpPr/>
            <p:nvPr/>
          </p:nvSpPr>
          <p:spPr>
            <a:xfrm>
              <a:off x="255386" y="204908"/>
              <a:ext cx="420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20"/>
            <p:cNvSpPr/>
            <p:nvPr/>
          </p:nvSpPr>
          <p:spPr>
            <a:xfrm>
              <a:off x="184018" y="276275"/>
              <a:ext cx="42000" cy="441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20"/>
            <p:cNvSpPr/>
            <p:nvPr/>
          </p:nvSpPr>
          <p:spPr>
            <a:xfrm>
              <a:off x="110552" y="345544"/>
              <a:ext cx="48279" cy="48278"/>
            </a:xfrm>
            <a:custGeom>
              <a:rect b="b" l="l" r="r" t="t"/>
              <a:pathLst>
                <a:path extrusionOk="0" h="1094" w="1095">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20"/>
            <p:cNvSpPr/>
            <p:nvPr/>
          </p:nvSpPr>
          <p:spPr>
            <a:xfrm>
              <a:off x="39184" y="416911"/>
              <a:ext cx="48279" cy="48279"/>
            </a:xfrm>
            <a:custGeom>
              <a:rect b="b" l="l" r="r" t="t"/>
              <a:pathLst>
                <a:path extrusionOk="0" h="1095" w="1095">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1797"/>
                                        </p:tgtEl>
                                        <p:attrNameLst>
                                          <p:attrName>style.visibility</p:attrName>
                                        </p:attrNameLst>
                                      </p:cBhvr>
                                      <p:to>
                                        <p:strVal val="visible"/>
                                      </p:to>
                                    </p:set>
                                    <p:anim calcmode="lin" valueType="num">
                                      <p:cBhvr additive="base">
                                        <p:cTn dur="500"/>
                                        <p:tgtEl>
                                          <p:spTgt spid="17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1798"/>
                                        </p:tgtEl>
                                        <p:attrNameLst>
                                          <p:attrName>style.visibility</p:attrName>
                                        </p:attrNameLst>
                                      </p:cBhvr>
                                      <p:to>
                                        <p:strVal val="visible"/>
                                      </p:to>
                                    </p:set>
                                    <p:anim calcmode="lin" valueType="num">
                                      <p:cBhvr additive="base">
                                        <p:cTn dur="500"/>
                                        <p:tgtEl>
                                          <p:spTgt spid="179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916"/>
                                        </p:tgtEl>
                                        <p:attrNameLst>
                                          <p:attrName>style.visibility</p:attrName>
                                        </p:attrNameLst>
                                      </p:cBhvr>
                                      <p:to>
                                        <p:strVal val="visible"/>
                                      </p:to>
                                    </p:set>
                                    <p:anim calcmode="lin" valueType="num">
                                      <p:cBhvr additive="base">
                                        <p:cTn dur="500"/>
                                        <p:tgtEl>
                                          <p:spTgt spid="191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
    <p:spTree>
      <p:nvGrpSpPr>
        <p:cNvPr id="2034" name="Shape 2034"/>
        <p:cNvGrpSpPr/>
        <p:nvPr/>
      </p:nvGrpSpPr>
      <p:grpSpPr>
        <a:xfrm>
          <a:off x="0" y="0"/>
          <a:ext cx="0" cy="0"/>
          <a:chOff x="0" y="0"/>
          <a:chExt cx="0" cy="0"/>
        </a:xfrm>
      </p:grpSpPr>
      <p:sp>
        <p:nvSpPr>
          <p:cNvPr id="2035" name="Google Shape;2035;p21"/>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36" name="Google Shape;2036;p21"/>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_1_1">
    <p:spTree>
      <p:nvGrpSpPr>
        <p:cNvPr id="2037" name="Shape 2037"/>
        <p:cNvGrpSpPr/>
        <p:nvPr/>
      </p:nvGrpSpPr>
      <p:grpSpPr>
        <a:xfrm>
          <a:off x="0" y="0"/>
          <a:ext cx="0" cy="0"/>
          <a:chOff x="0" y="0"/>
          <a:chExt cx="0" cy="0"/>
        </a:xfrm>
      </p:grpSpPr>
      <p:sp>
        <p:nvSpPr>
          <p:cNvPr id="2038" name="Google Shape;2038;p22"/>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39" name="Google Shape;2039;p22"/>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2040" name="Google Shape;2040;p22"/>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044" name="Shape 204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2045" name="Shape 2045"/>
        <p:cNvGrpSpPr/>
        <p:nvPr/>
      </p:nvGrpSpPr>
      <p:grpSpPr>
        <a:xfrm>
          <a:off x="0" y="0"/>
          <a:ext cx="0" cy="0"/>
          <a:chOff x="0" y="0"/>
          <a:chExt cx="0" cy="0"/>
        </a:xfrm>
      </p:grpSpPr>
      <p:sp>
        <p:nvSpPr>
          <p:cNvPr id="2046" name="Google Shape;2046;p25"/>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47" name="Google Shape;2047;p25"/>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2048" name="Shape 2048"/>
        <p:cNvGrpSpPr/>
        <p:nvPr/>
      </p:nvGrpSpPr>
      <p:grpSpPr>
        <a:xfrm>
          <a:off x="0" y="0"/>
          <a:ext cx="0" cy="0"/>
          <a:chOff x="0" y="0"/>
          <a:chExt cx="0" cy="0"/>
        </a:xfrm>
      </p:grpSpPr>
      <p:sp>
        <p:nvSpPr>
          <p:cNvPr id="2049" name="Google Shape;2049;p26"/>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50" name="Google Shape;2050;p26"/>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2051" name="Google Shape;2051;p26"/>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1pPr>
            <a:lvl2pPr lvl="1"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2pPr>
            <a:lvl3pPr lvl="2"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3pPr>
            <a:lvl4pPr lvl="3"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4pPr>
            <a:lvl5pPr lvl="4"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5pPr>
            <a:lvl6pPr lvl="5"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6pPr>
            <a:lvl7pPr lvl="6"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7pPr>
            <a:lvl8pPr lvl="7"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8pPr>
            <a:lvl9pPr lvl="8" rtl="0">
              <a:spcBef>
                <a:spcPts val="0"/>
              </a:spcBef>
              <a:spcAft>
                <a:spcPts val="0"/>
              </a:spcAft>
              <a:buClr>
                <a:schemeClr val="dk1"/>
              </a:buClr>
              <a:buSzPts val="3400"/>
              <a:buFont typeface="Poppins"/>
              <a:buNone/>
              <a:defRPr b="1" sz="34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lnSpc>
                <a:spcPct val="100000"/>
              </a:lnSpc>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041" name="Shape 2041"/>
        <p:cNvGrpSpPr/>
        <p:nvPr/>
      </p:nvGrpSpPr>
      <p:grpSpPr>
        <a:xfrm>
          <a:off x="0" y="0"/>
          <a:ext cx="0" cy="0"/>
          <a:chOff x="0" y="0"/>
          <a:chExt cx="0" cy="0"/>
        </a:xfrm>
      </p:grpSpPr>
      <p:sp>
        <p:nvSpPr>
          <p:cNvPr id="2042" name="Google Shape;2042;p23"/>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9pPr>
          </a:lstStyle>
          <a:p/>
        </p:txBody>
      </p:sp>
      <p:sp>
        <p:nvSpPr>
          <p:cNvPr id="2043" name="Google Shape;2043;p23"/>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5.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7.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600">
                <a:solidFill>
                  <a:srgbClr val="1C343C"/>
                </a:solidFill>
              </a:rPr>
              <a:t>LENDORA</a:t>
            </a:r>
          </a:p>
        </p:txBody>
      </p:sp>
      <p:sp>
        <p:nvSpPr>
          <p:cNvPr id="3" name="Subtitle 2"/>
          <p:cNvSpPr>
            <a:spLocks noGrp="1"/>
          </p:cNvSpPr>
          <p:nvPr>
            <p:ph type="subTitle" idx="1"/>
          </p:nvPr>
        </p:nvSpPr>
        <p:spPr/>
        <p:txBody>
          <a:bodyPr/>
          <a:lstStyle/>
          <a:p>
            <a:r>
              <a:rPr sz="1500" i="1">
                <a:solidFill>
                  <a:srgbClr val="4C6A78"/>
                </a:solidFill>
                <a:latin typeface="Arimo"/>
              </a:rPr>
              <a:t>A Multi-Vendor Rental Marketplace for Bangladesh</a:t>
            </a:r>
          </a:p>
        </p:txBody>
      </p:sp>
      <p:sp>
        <p:nvSpPr>
          <p:cNvPr id="4" name="TextBox 3"/>
          <p:cNvSpPr txBox="1"/>
          <p:nvPr/>
        </p:nvSpPr>
        <p:spPr>
          <a:xfrm>
            <a:off x="1463040" y="3886200"/>
            <a:ext cx="6217920" cy="1005840"/>
          </a:xfrm>
          <a:prstGeom prst="rect">
            <a:avLst/>
          </a:prstGeom>
          <a:noFill/>
        </p:spPr>
        <p:txBody>
          <a:bodyPr wrap="square" anchor="t" lIns="0" rIns="0" tIns="0" bIns="0">
            <a:spAutoFit/>
          </a:bodyPr>
          <a:lstStyle/>
          <a:p>
            <a:pPr algn="ctr">
              <a:spcAft>
                <a:spcPts val="400"/>
              </a:spcAft>
            </a:pPr>
            <a:r>
              <a:rPr sz="1050" b="0" i="0">
                <a:solidFill>
                  <a:srgbClr val="1C343C"/>
                </a:solidFill>
                <a:latin typeface="Arimo"/>
              </a:rPr>
              <a:t>University Project Defense</a:t>
            </a:r>
          </a:p>
          <a:p>
            <a:pPr algn="ctr">
              <a:spcAft>
                <a:spcPts val="400"/>
              </a:spcAft>
            </a:pPr>
            <a:r>
              <a:rPr sz="1050" b="0" i="0">
                <a:solidFill>
                  <a:srgbClr val="1C343C"/>
                </a:solidFill>
                <a:latin typeface="Arimo"/>
              </a:rPr>
              <a:t>[Your Name]  |  [Student ID]</a:t>
            </a:r>
          </a:p>
          <a:p>
            <a:pPr algn="ctr">
              <a:spcAft>
                <a:spcPts val="400"/>
              </a:spcAft>
            </a:pPr>
            <a:r>
              <a:rPr sz="1050" b="0" i="0">
                <a:solidFill>
                  <a:srgbClr val="1C343C"/>
                </a:solidFill>
                <a:latin typeface="Arimo"/>
              </a:rPr>
              <a:t>[Department / Program]  |  [University Name]</a:t>
            </a:r>
          </a:p>
          <a:p>
            <a:pPr algn="ctr">
              <a:spcAft>
                <a:spcPts val="400"/>
              </a:spcAft>
            </a:pPr>
            <a:r>
              <a:rPr sz="1050" b="0" i="0">
                <a:solidFill>
                  <a:srgbClr val="1C343C"/>
                </a:solidFill>
                <a:latin typeface="Arimo"/>
              </a:rPr>
              <a:t>Supervisor: [Supervisor Name]</a:t>
            </a:r>
          </a:p>
          <a:p>
            <a:pPr algn="ctr">
              <a:spcAft>
                <a:spcPts val="400"/>
              </a:spcAft>
            </a:pPr>
            <a:r>
              <a:rPr sz="1050" b="0" i="0">
                <a:solidFill>
                  <a:srgbClr val="1C343C"/>
                </a:solidFill>
                <a:latin typeface="Arimo"/>
              </a:rPr>
              <a:t>[Date]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pic>
        <p:nvPicPr>
          <p:cNvPr id="3" name="Picture 2" descr="lightbulb.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Lendora is a web-based, multi-vendor rental marketplace</a:t>
            </a:r>
          </a:p>
          <a:p>
            <a:pPr>
              <a:spcAft>
                <a:spcPts val="1100"/>
              </a:spcAft>
            </a:pPr>
            <a:r>
              <a:rPr sz="1150" b="1" i="0">
                <a:solidFill>
                  <a:srgbClr val="E0B4A4"/>
                </a:solidFill>
                <a:latin typeface="Arimo"/>
              </a:rPr>
              <a:t>●  </a:t>
            </a:r>
            <a:r>
              <a:rPr sz="1350" b="0" i="0">
                <a:solidFill>
                  <a:srgbClr val="1C343C"/>
                </a:solidFill>
                <a:latin typeface="Arimo"/>
              </a:rPr>
              <a:t>Full-stack application: Next.js frontend + Express/Node.js REST API + MySQL database</a:t>
            </a:r>
          </a:p>
          <a:p>
            <a:pPr>
              <a:spcAft>
                <a:spcPts val="1100"/>
              </a:spcAft>
            </a:pPr>
            <a:r>
              <a:rPr sz="1150" b="1" i="0">
                <a:solidFill>
                  <a:srgbClr val="E0B4A4"/>
                </a:solidFill>
                <a:latin typeface="Arimo"/>
              </a:rPr>
              <a:t>●  </a:t>
            </a:r>
            <a:r>
              <a:rPr sz="1350" b="0" i="0">
                <a:solidFill>
                  <a:srgbClr val="1C343C"/>
                </a:solidFill>
                <a:latin typeface="Arimo"/>
              </a:rPr>
              <a:t>Three user roles: Customer (renter), Vendor (seller), and Admin</a:t>
            </a:r>
          </a:p>
          <a:p>
            <a:pPr>
              <a:spcAft>
                <a:spcPts val="1100"/>
              </a:spcAft>
            </a:pPr>
            <a:r>
              <a:rPr sz="1150" b="1" i="0">
                <a:solidFill>
                  <a:srgbClr val="E0B4A4"/>
                </a:solidFill>
                <a:latin typeface="Arimo"/>
              </a:rPr>
              <a:t>●  </a:t>
            </a:r>
            <a:r>
              <a:rPr sz="1350" b="0" i="0">
                <a:solidFill>
                  <a:srgbClr val="1C343C"/>
                </a:solidFill>
                <a:latin typeface="Arimo"/>
              </a:rPr>
              <a:t>Covers the entire rental lifecycle — discovery, booking, payment, delivery, active use, return, and refund</a:t>
            </a:r>
          </a:p>
          <a:p>
            <a:pPr>
              <a:spcAft>
                <a:spcPts val="1100"/>
              </a:spcAft>
            </a:pPr>
            <a:r>
              <a:rPr sz="1150" b="1" i="0">
                <a:solidFill>
                  <a:srgbClr val="E0B4A4"/>
                </a:solidFill>
                <a:latin typeface="Arimo"/>
              </a:rPr>
              <a:t>●  </a:t>
            </a:r>
            <a:r>
              <a:rPr sz="1350" b="0" i="0">
                <a:solidFill>
                  <a:srgbClr val="1C343C"/>
                </a:solidFill>
                <a:latin typeface="Arimo"/>
              </a:rPr>
              <a:t>Localized for Bangladesh: BDT currency, district/division locations, bKash &amp; Nagad demo payments</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pic>
        <p:nvPicPr>
          <p:cNvPr id="3" name="Picture 2" descr="alert.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People often need an item only temporarily — a camera for one event, a sound system for a wedding, tools for a single repair</a:t>
            </a:r>
          </a:p>
          <a:p>
            <a:pPr>
              <a:spcAft>
                <a:spcPts val="1100"/>
              </a:spcAft>
            </a:pPr>
            <a:r>
              <a:rPr sz="1150" b="1" i="0">
                <a:solidFill>
                  <a:srgbClr val="E0B4A4"/>
                </a:solidFill>
                <a:latin typeface="Arimo"/>
              </a:rPr>
              <a:t>●  </a:t>
            </a:r>
            <a:r>
              <a:rPr sz="1350" b="0" i="0">
                <a:solidFill>
                  <a:srgbClr val="1C343C"/>
                </a:solidFill>
                <a:latin typeface="Arimo"/>
              </a:rPr>
              <a:t>Buying the item outright is expensive and wasteful for one-time use</a:t>
            </a:r>
          </a:p>
          <a:p>
            <a:pPr>
              <a:spcAft>
                <a:spcPts val="1100"/>
              </a:spcAft>
            </a:pPr>
            <a:r>
              <a:rPr sz="1150" b="1" i="0">
                <a:solidFill>
                  <a:srgbClr val="E0B4A4"/>
                </a:solidFill>
                <a:latin typeface="Arimo"/>
              </a:rPr>
              <a:t>●  </a:t>
            </a:r>
            <a:r>
              <a:rPr sz="1350" b="0" i="0">
                <a:solidFill>
                  <a:srgbClr val="1C343C"/>
                </a:solidFill>
                <a:latin typeface="Arimo"/>
              </a:rPr>
              <a:t>Renting in Bangladesh today is almost entirely informal — Facebook groups, personal contacts, word-of-mouth</a:t>
            </a:r>
          </a:p>
          <a:p>
            <a:pPr>
              <a:spcAft>
                <a:spcPts val="1100"/>
              </a:spcAft>
            </a:pPr>
            <a:r>
              <a:rPr sz="1150" b="1" i="0">
                <a:solidFill>
                  <a:srgbClr val="E0B4A4"/>
                </a:solidFill>
                <a:latin typeface="Arimo"/>
              </a:rPr>
              <a:t>●  </a:t>
            </a:r>
            <a:r>
              <a:rPr sz="1350" b="0" i="0">
                <a:solidFill>
                  <a:srgbClr val="1C343C"/>
                </a:solidFill>
                <a:latin typeface="Arimo"/>
              </a:rPr>
              <a:t>No standard way to verify the other party, hold a security deposit safely, or resolve damage and late-return disputes</a:t>
            </a:r>
          </a:p>
          <a:p>
            <a:pPr>
              <a:spcAft>
                <a:spcPts val="1100"/>
              </a:spcAft>
            </a:pPr>
            <a:r>
              <a:rPr sz="1150" b="1" i="0">
                <a:solidFill>
                  <a:srgbClr val="E0B4A4"/>
                </a:solidFill>
                <a:latin typeface="Arimo"/>
              </a:rPr>
              <a:t>●  </a:t>
            </a:r>
            <a:r>
              <a:rPr sz="1350" b="0" i="0">
                <a:solidFill>
                  <a:srgbClr val="1C343C"/>
                </a:solidFill>
                <a:latin typeface="Arimo"/>
              </a:rPr>
              <a:t>Cash-based, untracked transactions create trust issues on both sides</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pic>
        <p:nvPicPr>
          <p:cNvPr id="3" name="Picture 2" descr="target.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Build a secure, structured platform connecting renters and vendors</a:t>
            </a:r>
          </a:p>
          <a:p>
            <a:pPr>
              <a:spcAft>
                <a:spcPts val="1100"/>
              </a:spcAft>
            </a:pPr>
            <a:r>
              <a:rPr sz="1150" b="1" i="0">
                <a:solidFill>
                  <a:srgbClr val="E0B4A4"/>
                </a:solidFill>
                <a:latin typeface="Arimo"/>
              </a:rPr>
              <a:t>●  </a:t>
            </a:r>
            <a:r>
              <a:rPr sz="1350" b="0" i="0">
                <a:solidFill>
                  <a:srgbClr val="1C343C"/>
                </a:solidFill>
                <a:latin typeface="Arimo"/>
              </a:rPr>
              <a:t>Automate the full rental lifecycle with clear, trackable status at every stage</a:t>
            </a:r>
          </a:p>
          <a:p>
            <a:pPr>
              <a:spcAft>
                <a:spcPts val="1100"/>
              </a:spcAft>
            </a:pPr>
            <a:r>
              <a:rPr sz="1150" b="1" i="0">
                <a:solidFill>
                  <a:srgbClr val="E0B4A4"/>
                </a:solidFill>
                <a:latin typeface="Arimo"/>
              </a:rPr>
              <a:t>●  </a:t>
            </a:r>
            <a:r>
              <a:rPr sz="1350" b="0" i="0">
                <a:solidFill>
                  <a:srgbClr val="1C343C"/>
                </a:solidFill>
                <a:latin typeface="Arimo"/>
              </a:rPr>
              <a:t>Protect both parties using a platform-held security deposit</a:t>
            </a:r>
          </a:p>
          <a:p>
            <a:pPr>
              <a:spcAft>
                <a:spcPts val="1100"/>
              </a:spcAft>
            </a:pPr>
            <a:r>
              <a:rPr sz="1150" b="1" i="0">
                <a:solidFill>
                  <a:srgbClr val="E0B4A4"/>
                </a:solidFill>
                <a:latin typeface="Arimo"/>
              </a:rPr>
              <a:t>●  </a:t>
            </a:r>
            <a:r>
              <a:rPr sz="1350" b="0" i="0">
                <a:solidFill>
                  <a:srgbClr val="1C343C"/>
                </a:solidFill>
                <a:latin typeface="Arimo"/>
              </a:rPr>
              <a:t>Automatically detect overdue rentals and apply late fees — no manual negotiation</a:t>
            </a:r>
          </a:p>
          <a:p>
            <a:pPr>
              <a:spcAft>
                <a:spcPts val="1100"/>
              </a:spcAft>
            </a:pPr>
            <a:r>
              <a:rPr sz="1150" b="1" i="0">
                <a:solidFill>
                  <a:srgbClr val="E0B4A4"/>
                </a:solidFill>
                <a:latin typeface="Arimo"/>
              </a:rPr>
              <a:t>●  </a:t>
            </a:r>
            <a:r>
              <a:rPr sz="1350" b="0" i="0">
                <a:solidFill>
                  <a:srgbClr val="1C343C"/>
                </a:solidFill>
                <a:latin typeface="Arimo"/>
              </a:rPr>
              <a:t>Provide an admin layer for verification, dispute resolution, and platform oversight</a:t>
            </a:r>
          </a:p>
          <a:p>
            <a:pPr>
              <a:spcAft>
                <a:spcPts val="1100"/>
              </a:spcAft>
            </a:pPr>
            <a:r>
              <a:rPr sz="1150" b="1" i="0">
                <a:solidFill>
                  <a:srgbClr val="E0B4A4"/>
                </a:solidFill>
                <a:latin typeface="Arimo"/>
              </a:rPr>
              <a:t>●  </a:t>
            </a:r>
            <a:r>
              <a:rPr sz="1350" b="0" i="0">
                <a:solidFill>
                  <a:srgbClr val="1C343C"/>
                </a:solidFill>
                <a:latin typeface="Arimo"/>
              </a:rPr>
              <a:t>Build trust through a two-way review and rating system</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4/39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Existing System Problems</a:t>
            </a:r>
          </a:p>
        </p:txBody>
      </p:sp>
      <p:pic>
        <p:nvPicPr>
          <p:cNvPr id="3" name="Picture 2" descr="x_circle.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Facebook Marketplace / Groups — no verification, no escrow, no structured deposit handling</a:t>
            </a:r>
          </a:p>
          <a:p>
            <a:pPr>
              <a:spcAft>
                <a:spcPts val="1100"/>
              </a:spcAft>
            </a:pPr>
            <a:r>
              <a:rPr sz="1150" b="1" i="0">
                <a:solidFill>
                  <a:srgbClr val="E0B4A4"/>
                </a:solidFill>
                <a:latin typeface="Arimo"/>
              </a:rPr>
              <a:t>●  </a:t>
            </a:r>
            <a:r>
              <a:rPr sz="1350" b="0" i="0">
                <a:solidFill>
                  <a:srgbClr val="1C343C"/>
                </a:solidFill>
                <a:latin typeface="Arimo"/>
              </a:rPr>
              <a:t>Local rental shops — manual paperwork, cash deposits, no digital tracking of late fees or damage</a:t>
            </a:r>
          </a:p>
          <a:p>
            <a:pPr>
              <a:spcAft>
                <a:spcPts val="1100"/>
              </a:spcAft>
            </a:pPr>
            <a:r>
              <a:rPr sz="1150" b="1" i="0">
                <a:solidFill>
                  <a:srgbClr val="E0B4A4"/>
                </a:solidFill>
                <a:latin typeface="Arimo"/>
              </a:rPr>
              <a:t>●  </a:t>
            </a:r>
            <a:r>
              <a:rPr sz="1350" b="0" i="0">
                <a:solidFill>
                  <a:srgbClr val="1C343C"/>
                </a:solidFill>
                <a:latin typeface="Arimo"/>
              </a:rPr>
              <a:t>Generic classifieds (e.g. Bikroy-style sites) — built for one-time selling, not the rent-and-return cycle</a:t>
            </a:r>
          </a:p>
          <a:p>
            <a:pPr>
              <a:spcAft>
                <a:spcPts val="1100"/>
              </a:spcAft>
            </a:pPr>
            <a:r>
              <a:rPr sz="1150" b="1" i="0">
                <a:solidFill>
                  <a:srgbClr val="E0B4A4"/>
                </a:solidFill>
                <a:latin typeface="Arimo"/>
              </a:rPr>
              <a:t>●  </a:t>
            </a:r>
            <a:r>
              <a:rPr sz="1350" b="0" i="0">
                <a:solidFill>
                  <a:srgbClr val="1C343C"/>
                </a:solidFill>
                <a:latin typeface="Arimo"/>
              </a:rPr>
              <a:t>No existing solution automates overdue detection, late fees, or a structured return inspection</a:t>
            </a:r>
          </a:p>
          <a:p>
            <a:pPr>
              <a:spcAft>
                <a:spcPts val="1100"/>
              </a:spcAft>
            </a:pPr>
            <a:r>
              <a:rPr sz="1150" b="1" i="0">
                <a:solidFill>
                  <a:srgbClr val="E0B4A4"/>
                </a:solidFill>
                <a:latin typeface="Arimo"/>
              </a:rPr>
              <a:t>●  </a:t>
            </a:r>
            <a:r>
              <a:rPr sz="1350" b="0" i="0">
                <a:solidFill>
                  <a:srgbClr val="1C343C"/>
                </a:solidFill>
                <a:latin typeface="Arimo"/>
              </a:rPr>
              <a:t>No commission/payout system that lets everyday people become organized rental "vendors"</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5/39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Solution</a:t>
            </a:r>
          </a:p>
        </p:txBody>
      </p:sp>
      <p:pic>
        <p:nvPicPr>
          <p:cNvPr id="3" name="Picture 2" descr="check_circle.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A dedicated multi-vendor rental marketplace — not a generic classifieds clone</a:t>
            </a:r>
          </a:p>
          <a:p>
            <a:pPr>
              <a:spcAft>
                <a:spcPts val="1100"/>
              </a:spcAft>
            </a:pPr>
            <a:r>
              <a:rPr sz="1150" b="1" i="0">
                <a:solidFill>
                  <a:srgbClr val="E0B4A4"/>
                </a:solidFill>
                <a:latin typeface="Arimo"/>
              </a:rPr>
              <a:t>●  </a:t>
            </a:r>
            <a:r>
              <a:rPr sz="1350" b="0" i="0">
                <a:solidFill>
                  <a:srgbClr val="1C343C"/>
                </a:solidFill>
                <a:latin typeface="Arimo"/>
              </a:rPr>
              <a:t>Admin-verified vendor onboarding before any product can go live</a:t>
            </a:r>
          </a:p>
          <a:p>
            <a:pPr>
              <a:spcAft>
                <a:spcPts val="1100"/>
              </a:spcAft>
            </a:pPr>
            <a:r>
              <a:rPr sz="1150" b="1" i="0">
                <a:solidFill>
                  <a:srgbClr val="E0B4A4"/>
                </a:solidFill>
                <a:latin typeface="Arimo"/>
              </a:rPr>
              <a:t>●  </a:t>
            </a:r>
            <a:r>
              <a:rPr sz="1350" b="0" i="0">
                <a:solidFill>
                  <a:srgbClr val="1C343C"/>
                </a:solidFill>
                <a:latin typeface="Arimo"/>
              </a:rPr>
              <a:t>A structured rental lifecycle with well-defined statuses, automated at every transition</a:t>
            </a:r>
          </a:p>
          <a:p>
            <a:pPr>
              <a:spcAft>
                <a:spcPts val="1100"/>
              </a:spcAft>
            </a:pPr>
            <a:r>
              <a:rPr sz="1150" b="1" i="0">
                <a:solidFill>
                  <a:srgbClr val="E0B4A4"/>
                </a:solidFill>
                <a:latin typeface="Arimo"/>
              </a:rPr>
              <a:t>●  </a:t>
            </a:r>
            <a:r>
              <a:rPr sz="1350" b="0" i="0">
                <a:solidFill>
                  <a:srgbClr val="1C343C"/>
                </a:solidFill>
                <a:latin typeface="Arimo"/>
              </a:rPr>
              <a:t>Platform-held deposit with automatic late-fee deduction and admin-mediated damage resolution</a:t>
            </a:r>
          </a:p>
          <a:p>
            <a:pPr>
              <a:spcAft>
                <a:spcPts val="1100"/>
              </a:spcAft>
            </a:pPr>
            <a:r>
              <a:rPr sz="1150" b="1" i="0">
                <a:solidFill>
                  <a:srgbClr val="E0B4A4"/>
                </a:solidFill>
                <a:latin typeface="Arimo"/>
              </a:rPr>
              <a:t>●  </a:t>
            </a:r>
            <a:r>
              <a:rPr sz="1350" b="0" i="0">
                <a:solidFill>
                  <a:srgbClr val="1C343C"/>
                </a:solidFill>
                <a:latin typeface="Arimo"/>
              </a:rPr>
              <a:t>Two-way review system plus admin dashboards for full transparency</a:t>
            </a:r>
          </a:p>
          <a:p>
            <a:pPr>
              <a:spcAft>
                <a:spcPts val="1100"/>
              </a:spcAft>
            </a:pPr>
            <a:r>
              <a:rPr sz="1150" b="1" i="0">
                <a:solidFill>
                  <a:srgbClr val="E0B4A4"/>
                </a:solidFill>
                <a:latin typeface="Arimo"/>
              </a:rPr>
              <a:t>●  </a:t>
            </a:r>
            <a:r>
              <a:rPr sz="1350" b="0" i="0">
                <a:solidFill>
                  <a:srgbClr val="1C343C"/>
                </a:solidFill>
                <a:latin typeface="Arimo"/>
              </a:rPr>
              <a:t>Realistic demo bKash/Nagad payment flow — safe for an academic build, but modeled on real gateway integration</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6/39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Rounded Rectangle 2"/>
          <p:cNvSpPr/>
          <p:nvPr/>
        </p:nvSpPr>
        <p:spPr>
          <a:xfrm>
            <a:off x="411480" y="1417320"/>
            <a:ext cx="1929384" cy="658368"/>
          </a:xfrm>
          <a:prstGeom prst="roundRect">
            <a:avLst>
              <a:gd name="adj" fmla="val 6000"/>
            </a:avLst>
          </a:prstGeom>
          <a:solidFill>
            <a:srgbClr val="A7B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C343C"/>
                </a:solidFill>
                <a:latin typeface="Arimo"/>
              </a:rPr>
              <a:t>Browser</a:t>
            </a:r>
          </a:p>
        </p:txBody>
      </p:sp>
      <p:pic>
        <p:nvPicPr>
          <p:cNvPr id="4" name="Picture 3" descr="monitor.png"/>
          <p:cNvPicPr>
            <a:picLocks noChangeAspect="1"/>
          </p:cNvPicPr>
          <p:nvPr/>
        </p:nvPicPr>
        <p:blipFill>
          <a:blip r:embed="rId2"/>
          <a:stretch>
            <a:fillRect/>
          </a:stretch>
        </p:blipFill>
        <p:spPr>
          <a:xfrm>
            <a:off x="1257300" y="1033272"/>
            <a:ext cx="329184" cy="329184"/>
          </a:xfrm>
          <a:prstGeom prst="rect">
            <a:avLst/>
          </a:prstGeom>
        </p:spPr>
      </p:pic>
      <p:sp>
        <p:nvSpPr>
          <p:cNvPr id="5" name="Rounded Rectangle 4"/>
          <p:cNvSpPr/>
          <p:nvPr/>
        </p:nvSpPr>
        <p:spPr>
          <a:xfrm>
            <a:off x="2542032" y="1417320"/>
            <a:ext cx="1929384" cy="658368"/>
          </a:xfrm>
          <a:prstGeom prst="roundRect">
            <a:avLst>
              <a:gd name="adj" fmla="val 6000"/>
            </a:avLst>
          </a:prstGeom>
          <a:solidFill>
            <a:srgbClr val="E0B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Arimo"/>
              </a:rPr>
              <a:t>Next.js Frontend</a:t>
            </a:r>
          </a:p>
        </p:txBody>
      </p:sp>
      <p:pic>
        <p:nvPicPr>
          <p:cNvPr id="6" name="Picture 5" descr="layers.png"/>
          <p:cNvPicPr>
            <a:picLocks noChangeAspect="1"/>
          </p:cNvPicPr>
          <p:nvPr/>
        </p:nvPicPr>
        <p:blipFill>
          <a:blip r:embed="rId3"/>
          <a:stretch>
            <a:fillRect/>
          </a:stretch>
        </p:blipFill>
        <p:spPr>
          <a:xfrm>
            <a:off x="3387852" y="1033272"/>
            <a:ext cx="329184" cy="329184"/>
          </a:xfrm>
          <a:prstGeom prst="rect">
            <a:avLst/>
          </a:prstGeom>
        </p:spPr>
      </p:pic>
      <p:sp>
        <p:nvSpPr>
          <p:cNvPr id="7" name="Rounded Rectangle 6"/>
          <p:cNvSpPr/>
          <p:nvPr/>
        </p:nvSpPr>
        <p:spPr>
          <a:xfrm>
            <a:off x="4672584" y="1417320"/>
            <a:ext cx="1929384" cy="65836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Arimo"/>
              </a:rPr>
              <a:t>REST API (Express)</a:t>
            </a:r>
          </a:p>
        </p:txBody>
      </p:sp>
      <p:pic>
        <p:nvPicPr>
          <p:cNvPr id="8" name="Picture 7" descr="server.png"/>
          <p:cNvPicPr>
            <a:picLocks noChangeAspect="1"/>
          </p:cNvPicPr>
          <p:nvPr/>
        </p:nvPicPr>
        <p:blipFill>
          <a:blip r:embed="rId4"/>
          <a:stretch>
            <a:fillRect/>
          </a:stretch>
        </p:blipFill>
        <p:spPr>
          <a:xfrm>
            <a:off x="5518404" y="1033272"/>
            <a:ext cx="329184" cy="329184"/>
          </a:xfrm>
          <a:prstGeom prst="rect">
            <a:avLst/>
          </a:prstGeom>
        </p:spPr>
      </p:pic>
      <p:sp>
        <p:nvSpPr>
          <p:cNvPr id="9" name="Rounded Rectangle 8"/>
          <p:cNvSpPr/>
          <p:nvPr/>
        </p:nvSpPr>
        <p:spPr>
          <a:xfrm>
            <a:off x="6803136" y="1417320"/>
            <a:ext cx="1929384" cy="658368"/>
          </a:xfrm>
          <a:prstGeom prst="roundRect">
            <a:avLst>
              <a:gd name="adj" fmla="val 6000"/>
            </a:avLst>
          </a:prstGeom>
          <a:solidFill>
            <a:srgbClr val="A7B3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C343C"/>
                </a:solidFill>
                <a:latin typeface="Arimo"/>
              </a:rPr>
              <a:t>MySQL (Prisma)</a:t>
            </a:r>
          </a:p>
        </p:txBody>
      </p:sp>
      <p:pic>
        <p:nvPicPr>
          <p:cNvPr id="10" name="Picture 9" descr="database.png"/>
          <p:cNvPicPr>
            <a:picLocks noChangeAspect="1"/>
          </p:cNvPicPr>
          <p:nvPr/>
        </p:nvPicPr>
        <p:blipFill>
          <a:blip r:embed="rId5"/>
          <a:stretch>
            <a:fillRect/>
          </a:stretch>
        </p:blipFill>
        <p:spPr>
          <a:xfrm>
            <a:off x="7648956" y="1033272"/>
            <a:ext cx="329184" cy="329184"/>
          </a:xfrm>
          <a:prstGeom prst="rect">
            <a:avLst/>
          </a:prstGeom>
        </p:spPr>
      </p:pic>
      <p:cxnSp>
        <p:nvCxnSpPr>
          <p:cNvPr id="11" name="Connector 10"/>
          <p:cNvCxnSpPr/>
          <p:nvPr/>
        </p:nvCxnSpPr>
        <p:spPr>
          <a:xfrm>
            <a:off x="2340864" y="1746504"/>
            <a:ext cx="201168" cy="0"/>
          </a:xfrm>
          <a:prstGeom prst="line">
            <a:avLst/>
          </a:prstGeom>
          <a:ln w="25400">
            <a:solidFill>
              <a:srgbClr val="4C6A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471416" y="1746504"/>
            <a:ext cx="201168" cy="0"/>
          </a:xfrm>
          <a:prstGeom prst="line">
            <a:avLst/>
          </a:prstGeom>
          <a:ln w="25400">
            <a:solidFill>
              <a:srgbClr val="4C6A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601968" y="1746504"/>
            <a:ext cx="201168" cy="0"/>
          </a:xfrm>
          <a:prstGeom prst="line">
            <a:avLst/>
          </a:prstGeom>
          <a:ln w="25400">
            <a:solidFill>
              <a:srgbClr val="4C6A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672584" y="2487168"/>
            <a:ext cx="964684" cy="548640"/>
          </a:xfrm>
          <a:prstGeom prst="roundRect">
            <a:avLst>
              <a:gd name="adj" fmla="val 6000"/>
            </a:avLst>
          </a:prstGeom>
          <a:solidFill>
            <a:srgbClr val="1C3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Arimo"/>
              </a:rPr>
              <a:t>Redis Cache</a:t>
            </a:r>
          </a:p>
        </p:txBody>
      </p:sp>
      <p:cxnSp>
        <p:nvCxnSpPr>
          <p:cNvPr id="15" name="Connector 14"/>
          <p:cNvCxnSpPr/>
          <p:nvPr/>
        </p:nvCxnSpPr>
        <p:spPr>
          <a:xfrm flipV="1">
            <a:off x="5154926" y="2075688"/>
            <a:ext cx="482350" cy="411480"/>
          </a:xfrm>
          <a:prstGeom prst="line">
            <a:avLst/>
          </a:prstGeom>
          <a:ln w="15875">
            <a:solidFill>
              <a:srgbClr val="4C6A7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637284" y="2487168"/>
            <a:ext cx="964684" cy="548640"/>
          </a:xfrm>
          <a:prstGeom prst="roundRect">
            <a:avLst>
              <a:gd name="adj" fmla="val 6000"/>
            </a:avLst>
          </a:prstGeom>
          <a:solidFill>
            <a:srgbClr val="1C34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Arimo"/>
              </a:rPr>
              <a:t>bKash / Nagad</a:t>
            </a:r>
          </a:p>
        </p:txBody>
      </p:sp>
      <p:cxnSp>
        <p:nvCxnSpPr>
          <p:cNvPr id="17" name="Connector 16"/>
          <p:cNvCxnSpPr/>
          <p:nvPr/>
        </p:nvCxnSpPr>
        <p:spPr>
          <a:xfrm flipH="1" flipV="1">
            <a:off x="5637276" y="2075688"/>
            <a:ext cx="482350" cy="411480"/>
          </a:xfrm>
          <a:prstGeom prst="line">
            <a:avLst/>
          </a:prstGeom>
          <a:ln w="15875">
            <a:solidFill>
              <a:srgbClr val="4C6A7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88720" y="2880360"/>
            <a:ext cx="7132320" cy="2011680"/>
          </a:xfrm>
          <a:prstGeom prst="rect">
            <a:avLst/>
          </a:prstGeom>
          <a:noFill/>
        </p:spPr>
        <p:txBody>
          <a:bodyPr wrap="square" anchor="t" lIns="0" rIns="0" tIns="0" bIns="0">
            <a:spAutoFit/>
          </a:bodyPr>
          <a:lstStyle/>
          <a:p>
            <a:pPr>
              <a:spcAft>
                <a:spcPts val="600"/>
              </a:spcAft>
            </a:pPr>
            <a:r>
              <a:rPr sz="900" b="1" i="0">
                <a:solidFill>
                  <a:srgbClr val="E0B4A4"/>
                </a:solidFill>
                <a:latin typeface="Arimo"/>
              </a:rPr>
              <a:t>●  </a:t>
            </a:r>
            <a:r>
              <a:rPr sz="1100" b="0" i="0">
                <a:solidFill>
                  <a:srgbClr val="1C343C"/>
                </a:solidFill>
                <a:latin typeface="Arimo"/>
              </a:rPr>
              <a:t>Clean Architecture on the backend: Routes → Use Cases → Repositories</a:t>
            </a:r>
          </a:p>
          <a:p>
            <a:pPr>
              <a:spcAft>
                <a:spcPts val="600"/>
              </a:spcAft>
            </a:pPr>
            <a:r>
              <a:rPr sz="900" b="1" i="0">
                <a:solidFill>
                  <a:srgbClr val="E0B4A4"/>
                </a:solidFill>
                <a:latin typeface="Arimo"/>
              </a:rPr>
              <a:t>●  </a:t>
            </a:r>
            <a:r>
              <a:rPr sz="1100" b="0" i="0">
                <a:solidFill>
                  <a:srgbClr val="1C343C"/>
                </a:solidFill>
                <a:latin typeface="Arimo"/>
              </a:rPr>
              <a:t>Frontend and backend live as independent apps inside one monorepo, sharing a common types/constants package</a:t>
            </a:r>
          </a:p>
          <a:p>
            <a:pPr>
              <a:spcAft>
                <a:spcPts val="600"/>
              </a:spcAft>
            </a:pPr>
            <a:r>
              <a:rPr sz="900" b="1" i="0">
                <a:solidFill>
                  <a:srgbClr val="E0B4A4"/>
                </a:solidFill>
                <a:latin typeface="Arimo"/>
              </a:rPr>
              <a:t>●  </a:t>
            </a:r>
            <a:r>
              <a:rPr sz="1100" b="0" i="0">
                <a:solidFill>
                  <a:srgbClr val="1C343C"/>
                </a:solidFill>
                <a:latin typeface="Arimo"/>
              </a:rPr>
              <a:t>MySQL accessed through Prisma ORM for type-safe, validated database access</a:t>
            </a:r>
          </a:p>
          <a:p>
            <a:pPr>
              <a:spcAft>
                <a:spcPts val="600"/>
              </a:spcAft>
            </a:pPr>
            <a:r>
              <a:rPr sz="900" b="1" i="0">
                <a:solidFill>
                  <a:srgbClr val="E0B4A4"/>
                </a:solidFill>
                <a:latin typeface="Arimo"/>
              </a:rPr>
              <a:t>●  </a:t>
            </a:r>
            <a:r>
              <a:rPr sz="1100" b="0" i="0">
                <a:solidFill>
                  <a:srgbClr val="1C343C"/>
                </a:solidFill>
                <a:latin typeface="Arimo"/>
              </a:rPr>
              <a:t>Redis used for caching (falls back to in-memory automatically if unavailable)</a:t>
            </a:r>
          </a:p>
          <a:p>
            <a:pPr>
              <a:spcAft>
                <a:spcPts val="600"/>
              </a:spcAft>
            </a:pPr>
            <a:r>
              <a:rPr sz="900" b="1" i="0">
                <a:solidFill>
                  <a:srgbClr val="E0B4A4"/>
                </a:solidFill>
                <a:latin typeface="Arimo"/>
              </a:rPr>
              <a:t>●  </a:t>
            </a:r>
            <a:r>
              <a:rPr sz="1100" b="0" i="0">
                <a:solidFill>
                  <a:srgbClr val="1C343C"/>
                </a:solidFill>
                <a:latin typeface="Arimo"/>
              </a:rPr>
              <a:t>Nginx reverse proxy in front for production — TLS termination, rate limiting, static asset caching</a:t>
            </a:r>
          </a:p>
        </p:txBody>
      </p:sp>
      <p:sp>
        <p:nvSpPr>
          <p:cNvPr id="19" name="TextBox 18"/>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7/39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Stack</a:t>
            </a:r>
          </a:p>
        </p:txBody>
      </p:sp>
      <p:pic>
        <p:nvPicPr>
          <p:cNvPr id="3" name="Picture 2" descr="monitor.png"/>
          <p:cNvPicPr>
            <a:picLocks noChangeAspect="1"/>
          </p:cNvPicPr>
          <p:nvPr/>
        </p:nvPicPr>
        <p:blipFill>
          <a:blip r:embed="rId2"/>
          <a:stretch>
            <a:fillRect/>
          </a:stretch>
        </p:blipFill>
        <p:spPr>
          <a:xfrm>
            <a:off x="1188720" y="1417320"/>
            <a:ext cx="384048" cy="384048"/>
          </a:xfrm>
          <a:prstGeom prst="rect">
            <a:avLst/>
          </a:prstGeom>
        </p:spPr>
      </p:pic>
      <p:sp>
        <p:nvSpPr>
          <p:cNvPr id="4" name="TextBox 3"/>
          <p:cNvSpPr txBox="1"/>
          <p:nvPr/>
        </p:nvSpPr>
        <p:spPr>
          <a:xfrm>
            <a:off x="1691640" y="1417320"/>
            <a:ext cx="6629400" cy="713232"/>
          </a:xfrm>
          <a:prstGeom prst="rect">
            <a:avLst/>
          </a:prstGeom>
          <a:noFill/>
        </p:spPr>
        <p:txBody>
          <a:bodyPr wrap="square" anchor="ctr" lIns="0" rIns="0" tIns="0" bIns="0">
            <a:spAutoFit/>
          </a:bodyPr>
          <a:lstStyle/>
          <a:p>
            <a:r>
              <a:rPr sz="1250" b="0" i="0">
                <a:solidFill>
                  <a:srgbClr val="1C343C"/>
                </a:solidFill>
                <a:latin typeface="Arimo"/>
              </a:rPr>
              <a:t>Frontend — Next.js 15 (App Router), React, TypeScript, Tailwind CSS, TanStack Query, Zustand</a:t>
            </a:r>
          </a:p>
        </p:txBody>
      </p:sp>
      <p:pic>
        <p:nvPicPr>
          <p:cNvPr id="5" name="Picture 4" descr="server.png"/>
          <p:cNvPicPr>
            <a:picLocks noChangeAspect="1"/>
          </p:cNvPicPr>
          <p:nvPr/>
        </p:nvPicPr>
        <p:blipFill>
          <a:blip r:embed="rId3"/>
          <a:stretch>
            <a:fillRect/>
          </a:stretch>
        </p:blipFill>
        <p:spPr>
          <a:xfrm>
            <a:off x="1188720" y="2130552"/>
            <a:ext cx="384048" cy="384048"/>
          </a:xfrm>
          <a:prstGeom prst="rect">
            <a:avLst/>
          </a:prstGeom>
        </p:spPr>
      </p:pic>
      <p:sp>
        <p:nvSpPr>
          <p:cNvPr id="6" name="TextBox 5"/>
          <p:cNvSpPr txBox="1"/>
          <p:nvPr/>
        </p:nvSpPr>
        <p:spPr>
          <a:xfrm>
            <a:off x="1691640" y="2130552"/>
            <a:ext cx="6629400" cy="713232"/>
          </a:xfrm>
          <a:prstGeom prst="rect">
            <a:avLst/>
          </a:prstGeom>
          <a:noFill/>
        </p:spPr>
        <p:txBody>
          <a:bodyPr wrap="square" anchor="ctr" lIns="0" rIns="0" tIns="0" bIns="0">
            <a:spAutoFit/>
          </a:bodyPr>
          <a:lstStyle/>
          <a:p>
            <a:r>
              <a:rPr sz="1250" b="0" i="0">
                <a:solidFill>
                  <a:srgbClr val="1C343C"/>
                </a:solidFill>
                <a:latin typeface="Arimo"/>
              </a:rPr>
              <a:t>Backend — Node.js, Express, TypeScript, Prisma 6 ORM</a:t>
            </a:r>
          </a:p>
        </p:txBody>
      </p:sp>
      <p:pic>
        <p:nvPicPr>
          <p:cNvPr id="7" name="Picture 6" descr="database.png"/>
          <p:cNvPicPr>
            <a:picLocks noChangeAspect="1"/>
          </p:cNvPicPr>
          <p:nvPr/>
        </p:nvPicPr>
        <p:blipFill>
          <a:blip r:embed="rId4"/>
          <a:stretch>
            <a:fillRect/>
          </a:stretch>
        </p:blipFill>
        <p:spPr>
          <a:xfrm>
            <a:off x="1188720" y="2843784"/>
            <a:ext cx="384048" cy="384048"/>
          </a:xfrm>
          <a:prstGeom prst="rect">
            <a:avLst/>
          </a:prstGeom>
        </p:spPr>
      </p:pic>
      <p:sp>
        <p:nvSpPr>
          <p:cNvPr id="8" name="TextBox 7"/>
          <p:cNvSpPr txBox="1"/>
          <p:nvPr/>
        </p:nvSpPr>
        <p:spPr>
          <a:xfrm>
            <a:off x="1691640" y="2843784"/>
            <a:ext cx="6629400" cy="713232"/>
          </a:xfrm>
          <a:prstGeom prst="rect">
            <a:avLst/>
          </a:prstGeom>
          <a:noFill/>
        </p:spPr>
        <p:txBody>
          <a:bodyPr wrap="square" anchor="ctr" lIns="0" rIns="0" tIns="0" bIns="0">
            <a:spAutoFit/>
          </a:bodyPr>
          <a:lstStyle/>
          <a:p>
            <a:r>
              <a:rPr sz="1250" b="0" i="0">
                <a:solidFill>
                  <a:srgbClr val="1C343C"/>
                </a:solidFill>
                <a:latin typeface="Arimo"/>
              </a:rPr>
              <a:t>Database &amp; Cache — MySQL 8, Redis</a:t>
            </a:r>
          </a:p>
        </p:txBody>
      </p:sp>
      <p:pic>
        <p:nvPicPr>
          <p:cNvPr id="9" name="Picture 8" descr="card.png"/>
          <p:cNvPicPr>
            <a:picLocks noChangeAspect="1"/>
          </p:cNvPicPr>
          <p:nvPr/>
        </p:nvPicPr>
        <p:blipFill>
          <a:blip r:embed="rId5"/>
          <a:stretch>
            <a:fillRect/>
          </a:stretch>
        </p:blipFill>
        <p:spPr>
          <a:xfrm>
            <a:off x="1188720" y="3557016"/>
            <a:ext cx="384048" cy="384048"/>
          </a:xfrm>
          <a:prstGeom prst="rect">
            <a:avLst/>
          </a:prstGeom>
        </p:spPr>
      </p:pic>
      <p:sp>
        <p:nvSpPr>
          <p:cNvPr id="10" name="TextBox 9"/>
          <p:cNvSpPr txBox="1"/>
          <p:nvPr/>
        </p:nvSpPr>
        <p:spPr>
          <a:xfrm>
            <a:off x="1691640" y="3557016"/>
            <a:ext cx="6629400" cy="713232"/>
          </a:xfrm>
          <a:prstGeom prst="rect">
            <a:avLst/>
          </a:prstGeom>
          <a:noFill/>
        </p:spPr>
        <p:txBody>
          <a:bodyPr wrap="square" anchor="ctr" lIns="0" rIns="0" tIns="0" bIns="0">
            <a:spAutoFit/>
          </a:bodyPr>
          <a:lstStyle/>
          <a:p>
            <a:r>
              <a:rPr sz="1250" b="0" i="0">
                <a:solidFill>
                  <a:srgbClr val="1C343C"/>
                </a:solidFill>
                <a:latin typeface="Arimo"/>
              </a:rPr>
              <a:t>Payments — bKash &amp; Nagad gateway integration (demo mode)</a:t>
            </a:r>
          </a:p>
        </p:txBody>
      </p:sp>
      <p:pic>
        <p:nvPicPr>
          <p:cNvPr id="11" name="Picture 10" descr="layers.png"/>
          <p:cNvPicPr>
            <a:picLocks noChangeAspect="1"/>
          </p:cNvPicPr>
          <p:nvPr/>
        </p:nvPicPr>
        <p:blipFill>
          <a:blip r:embed="rId6"/>
          <a:stretch>
            <a:fillRect/>
          </a:stretch>
        </p:blipFill>
        <p:spPr>
          <a:xfrm>
            <a:off x="1188720" y="4270248"/>
            <a:ext cx="384048" cy="384048"/>
          </a:xfrm>
          <a:prstGeom prst="rect">
            <a:avLst/>
          </a:prstGeom>
        </p:spPr>
      </p:pic>
      <p:sp>
        <p:nvSpPr>
          <p:cNvPr id="12" name="TextBox 11"/>
          <p:cNvSpPr txBox="1"/>
          <p:nvPr/>
        </p:nvSpPr>
        <p:spPr>
          <a:xfrm>
            <a:off x="1691640" y="4270248"/>
            <a:ext cx="6629400" cy="713232"/>
          </a:xfrm>
          <a:prstGeom prst="rect">
            <a:avLst/>
          </a:prstGeom>
          <a:noFill/>
        </p:spPr>
        <p:txBody>
          <a:bodyPr wrap="square" anchor="ctr" lIns="0" rIns="0" tIns="0" bIns="0">
            <a:spAutoFit/>
          </a:bodyPr>
          <a:lstStyle/>
          <a:p>
            <a:r>
              <a:rPr sz="1250" b="0" i="0">
                <a:solidFill>
                  <a:srgbClr val="1C343C"/>
                </a:solidFill>
                <a:latin typeface="Arimo"/>
              </a:rPr>
              <a:t>Tooling &amp; Infra — pnpm workspaces + Turborepo monorepo, Docker + Nginx, JWT auth, Zod validation</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8/39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 Roles</a:t>
            </a:r>
          </a:p>
        </p:txBody>
      </p:sp>
      <p:sp>
        <p:nvSpPr>
          <p:cNvPr id="3" name="Rounded Rectangle 2"/>
          <p:cNvSpPr/>
          <p:nvPr/>
        </p:nvSpPr>
        <p:spPr>
          <a:xfrm>
            <a:off x="502920" y="1554480"/>
            <a:ext cx="2606040" cy="2331720"/>
          </a:xfrm>
          <a:prstGeom prst="roundRect">
            <a:avLst>
              <a:gd name="adj" fmla="val 6000"/>
            </a:avLst>
          </a:prstGeom>
          <a:solidFill>
            <a:srgbClr val="FFFFFF"/>
          </a:solidFill>
          <a:ln w="12700">
            <a:solidFill>
              <a:srgbClr val="A7B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ser.png"/>
          <p:cNvPicPr>
            <a:picLocks noChangeAspect="1"/>
          </p:cNvPicPr>
          <p:nvPr/>
        </p:nvPicPr>
        <p:blipFill>
          <a:blip r:embed="rId2"/>
          <a:stretch>
            <a:fillRect/>
          </a:stretch>
        </p:blipFill>
        <p:spPr>
          <a:xfrm>
            <a:off x="1513332" y="1755648"/>
            <a:ext cx="585216" cy="585216"/>
          </a:xfrm>
          <a:prstGeom prst="rect">
            <a:avLst/>
          </a:prstGeom>
        </p:spPr>
      </p:pic>
      <p:sp>
        <p:nvSpPr>
          <p:cNvPr id="5" name="TextBox 4"/>
          <p:cNvSpPr txBox="1"/>
          <p:nvPr/>
        </p:nvSpPr>
        <p:spPr>
          <a:xfrm>
            <a:off x="667512" y="2514600"/>
            <a:ext cx="2276856" cy="1280160"/>
          </a:xfrm>
          <a:prstGeom prst="rect">
            <a:avLst/>
          </a:prstGeom>
          <a:noFill/>
        </p:spPr>
        <p:txBody>
          <a:bodyPr wrap="square" anchor="t" lIns="0" rIns="0" tIns="0" bIns="0">
            <a:spAutoFit/>
          </a:bodyPr>
          <a:lstStyle/>
          <a:p>
            <a:pPr algn="ctr"/>
            <a:r>
              <a:rPr sz="1100" b="0" i="0">
                <a:solidFill>
                  <a:srgbClr val="1C343C"/>
                </a:solidFill>
                <a:latin typeface="Arimo"/>
              </a:rPr>
              <a:t>Customer (Renter) — browses products, books rentals, pays, tracks delivery, returns items, leaves reviews</a:t>
            </a:r>
          </a:p>
        </p:txBody>
      </p:sp>
      <p:sp>
        <p:nvSpPr>
          <p:cNvPr id="6" name="Rounded Rectangle 5"/>
          <p:cNvSpPr/>
          <p:nvPr/>
        </p:nvSpPr>
        <p:spPr>
          <a:xfrm>
            <a:off x="3291840" y="1554480"/>
            <a:ext cx="2606040" cy="2331720"/>
          </a:xfrm>
          <a:prstGeom prst="roundRect">
            <a:avLst>
              <a:gd name="adj" fmla="val 6000"/>
            </a:avLst>
          </a:prstGeom>
          <a:solidFill>
            <a:srgbClr val="FFFFFF"/>
          </a:solidFill>
          <a:ln w="12700">
            <a:solidFill>
              <a:srgbClr val="A7B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ore.png"/>
          <p:cNvPicPr>
            <a:picLocks noChangeAspect="1"/>
          </p:cNvPicPr>
          <p:nvPr/>
        </p:nvPicPr>
        <p:blipFill>
          <a:blip r:embed="rId3"/>
          <a:stretch>
            <a:fillRect/>
          </a:stretch>
        </p:blipFill>
        <p:spPr>
          <a:xfrm>
            <a:off x="4302252" y="1755648"/>
            <a:ext cx="585216" cy="585216"/>
          </a:xfrm>
          <a:prstGeom prst="rect">
            <a:avLst/>
          </a:prstGeom>
        </p:spPr>
      </p:pic>
      <p:sp>
        <p:nvSpPr>
          <p:cNvPr id="8" name="TextBox 7"/>
          <p:cNvSpPr txBox="1"/>
          <p:nvPr/>
        </p:nvSpPr>
        <p:spPr>
          <a:xfrm>
            <a:off x="3456432" y="2514600"/>
            <a:ext cx="2276856" cy="1280160"/>
          </a:xfrm>
          <a:prstGeom prst="rect">
            <a:avLst/>
          </a:prstGeom>
          <a:noFill/>
        </p:spPr>
        <p:txBody>
          <a:bodyPr wrap="square" anchor="t" lIns="0" rIns="0" tIns="0" bIns="0">
            <a:spAutoFit/>
          </a:bodyPr>
          <a:lstStyle/>
          <a:p>
            <a:pPr algn="ctr"/>
            <a:r>
              <a:rPr sz="1100" b="0" i="0">
                <a:solidFill>
                  <a:srgbClr val="1C343C"/>
                </a:solidFill>
                <a:latin typeface="Arimo"/>
              </a:rPr>
              <a:t>Vendor (Seller) — lists products, manages rental requests, sets pickup/return addresses, dispatches items, receives payouts</a:t>
            </a:r>
          </a:p>
        </p:txBody>
      </p:sp>
      <p:sp>
        <p:nvSpPr>
          <p:cNvPr id="9" name="Rounded Rectangle 8"/>
          <p:cNvSpPr/>
          <p:nvPr/>
        </p:nvSpPr>
        <p:spPr>
          <a:xfrm>
            <a:off x="6080760" y="1554480"/>
            <a:ext cx="2606040" cy="2331720"/>
          </a:xfrm>
          <a:prstGeom prst="roundRect">
            <a:avLst>
              <a:gd name="adj" fmla="val 6000"/>
            </a:avLst>
          </a:prstGeom>
          <a:solidFill>
            <a:srgbClr val="FFFFFF"/>
          </a:solidFill>
          <a:ln w="12700">
            <a:solidFill>
              <a:srgbClr val="A7B3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hield_check.png"/>
          <p:cNvPicPr>
            <a:picLocks noChangeAspect="1"/>
          </p:cNvPicPr>
          <p:nvPr/>
        </p:nvPicPr>
        <p:blipFill>
          <a:blip r:embed="rId4"/>
          <a:stretch>
            <a:fillRect/>
          </a:stretch>
        </p:blipFill>
        <p:spPr>
          <a:xfrm>
            <a:off x="7091172" y="1755648"/>
            <a:ext cx="585216" cy="585216"/>
          </a:xfrm>
          <a:prstGeom prst="rect">
            <a:avLst/>
          </a:prstGeom>
        </p:spPr>
      </p:pic>
      <p:sp>
        <p:nvSpPr>
          <p:cNvPr id="11" name="TextBox 10"/>
          <p:cNvSpPr txBox="1"/>
          <p:nvPr/>
        </p:nvSpPr>
        <p:spPr>
          <a:xfrm>
            <a:off x="6245352" y="2514600"/>
            <a:ext cx="2276856" cy="1280160"/>
          </a:xfrm>
          <a:prstGeom prst="rect">
            <a:avLst/>
          </a:prstGeom>
          <a:noFill/>
        </p:spPr>
        <p:txBody>
          <a:bodyPr wrap="square" anchor="t" lIns="0" rIns="0" tIns="0" bIns="0">
            <a:spAutoFit/>
          </a:bodyPr>
          <a:lstStyle/>
          <a:p>
            <a:pPr algn="ctr"/>
            <a:r>
              <a:rPr sz="1100" b="0" i="0">
                <a:solidFill>
                  <a:srgbClr val="1C343C"/>
                </a:solidFill>
                <a:latin typeface="Arimo"/>
              </a:rPr>
              <a:t>Admin (Platform Operator) — verifies vendors/customers, moderates listings, resolves disputes &amp; damage claims, monitors the whole platform</a:t>
            </a:r>
          </a:p>
        </p:txBody>
      </p:sp>
      <p:sp>
        <p:nvSpPr>
          <p:cNvPr id="12" name="TextBox 11"/>
          <p:cNvSpPr txBox="1"/>
          <p:nvPr/>
        </p:nvSpPr>
        <p:spPr>
          <a:xfrm>
            <a:off x="1188720" y="4069080"/>
            <a:ext cx="7086600" cy="548640"/>
          </a:xfrm>
          <a:prstGeom prst="rect">
            <a:avLst/>
          </a:prstGeom>
          <a:noFill/>
        </p:spPr>
        <p:txBody>
          <a:bodyPr wrap="square" anchor="t" lIns="0" rIns="0" tIns="0" bIns="0">
            <a:spAutoFit/>
          </a:bodyPr>
          <a:lstStyle/>
          <a:p>
            <a:pPr algn="ctr"/>
            <a:r>
              <a:rPr sz="1100" b="0" i="1">
                <a:solidFill>
                  <a:srgbClr val="4C6A78"/>
                </a:solidFill>
                <a:latin typeface="Arimo"/>
              </a:rPr>
              <a:t>Each role is enforced server-side through JWT-based authentication and role-based authorization middleware</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9/39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Homepage</a:t>
            </a:r>
          </a:p>
        </p:txBody>
      </p:sp>
      <p:pic>
        <p:nvPicPr>
          <p:cNvPr id="3" name="Picture 2" descr="house.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Public landing page with a hero banner, search bar, category shortcuts, featured/trending rentals, a "How It Works" explainer, top-rated vendors, FAQ, and newsletter signup.</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Every visitor — logged out or logged in, before they commit to a role.</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Search or browse products, jump into a category, click "Become a Vendor," or log in / sign up.</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Clicking "Browse Items" or a category leads to the Product Marketplace; clicking "Become a Vendor" starts Seller Registration.</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Homepage — hero, search &amp; categories</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10/39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Seller Registration</a:t>
            </a:r>
          </a:p>
        </p:txBody>
      </p:sp>
      <p:pic>
        <p:nvPicPr>
          <p:cNvPr id="3" name="Picture 2" descr="store.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A multi-step vendor application form capturing business name, description, district/division, bKash number for payouts, and identity verification details.</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A prospective vendor — someone registering to list and rent out items.</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Fill in business details, choose a location, provide a payout number, and submit the application.</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Submitting creates an account with status PENDING_VERIFICATION, which enters the Admin Verification queue before any product can be listed.</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Seller registration — business details form</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11/39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Registration</a:t>
            </a:r>
          </a:p>
        </p:txBody>
      </p:sp>
      <p:pic>
        <p:nvPicPr>
          <p:cNvPr id="3" name="Picture 2" descr="user_plus.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A standard sign-up form — name, email, phone number, and password.</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A new customer who wants to rent items.</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Register an account, verify it, and log in.</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Once active, the customer lands on the Customer Dashboard — but first, let's see how the admin reviews new accounts.</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Customer registration — sign-up form</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12/39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Admin Verification Process</a:t>
            </a:r>
          </a:p>
        </p:txBody>
      </p:sp>
      <p:pic>
        <p:nvPicPr>
          <p:cNvPr id="3" name="Picture 2" descr="shield_check.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An admin queue listing pending vendor and customer applications with their submitted details.</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Admin — the platform operator responsible for trust and safety.</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Review submitted details, then Approve or Reject each application, optionally with a reason.</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Approved vendors move to ACTIVE status and can immediately start listing products; rejected applicants are notified with the reason.</a:t>
            </a:r>
          </a:p>
        </p:txBody>
      </p:sp>
      <p:sp>
        <p:nvSpPr>
          <p:cNvPr id="12" name="Rounded Rectangle 11"/>
          <p:cNvSpPr/>
          <p:nvPr/>
        </p:nvSpPr>
        <p:spPr>
          <a:xfrm>
            <a:off x="4251960" y="1417320"/>
            <a:ext cx="4114800" cy="1540764"/>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Admin panel — pending vendor verification queue</a:t>
            </a:r>
          </a:p>
        </p:txBody>
      </p:sp>
      <p:sp>
        <p:nvSpPr>
          <p:cNvPr id="13" name="Rounded Rectangle 12"/>
          <p:cNvSpPr/>
          <p:nvPr/>
        </p:nvSpPr>
        <p:spPr>
          <a:xfrm>
            <a:off x="4251960" y="3122676"/>
            <a:ext cx="4114800" cy="1540764"/>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Admin panel — pending customer verification queue</a:t>
            </a:r>
          </a:p>
        </p:txBody>
      </p:sp>
      <p:sp>
        <p:nvSpPr>
          <p:cNvPr id="14" name="TextBox 13"/>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13/39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Seller Dashboard</a:t>
            </a:r>
          </a:p>
        </p:txBody>
      </p:sp>
      <p:pic>
        <p:nvPicPr>
          <p:cNvPr id="3" name="Picture 2" descr="grid.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vendor's control center — key stats (total rentals, total earnings, average rating, response time), pending rental requests, a snapshot of their product list, and quick links.</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Vendor, every time they log in.</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Review pending rental requests, jump into product management or payouts, complete their business profile if it's their first visit.</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From here, a vendor's next natural step is publishing their first product.</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Vendor dashboard — overview &amp; stats</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14/39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Publishing</a:t>
            </a:r>
          </a:p>
        </p:txBody>
      </p:sp>
      <p:pic>
        <p:nvPicPr>
          <p:cNvPr id="3" name="Picture 2" descr="box.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Add/Edit Product form — name, category, description, price per day/week/month, security deposit amount, condition, photos, delivery options, and location.</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Vendor.</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Fill in product details, upload photos, choose delivery method(s) — Customer Pickup and/or Courier — and submit.</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The product enters PENDING_REVIEW; once an admin approves it, it appears live on the Product Marketplace for customers to find.</a:t>
            </a:r>
          </a:p>
        </p:txBody>
      </p:sp>
      <p:sp>
        <p:nvSpPr>
          <p:cNvPr id="12" name="Rounded Rectangle 11"/>
          <p:cNvSpPr/>
          <p:nvPr/>
        </p:nvSpPr>
        <p:spPr>
          <a:xfrm>
            <a:off x="4251960" y="1417320"/>
            <a:ext cx="4114800" cy="1540764"/>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Add product form — details &amp; pricing</a:t>
            </a:r>
          </a:p>
        </p:txBody>
      </p:sp>
      <p:sp>
        <p:nvSpPr>
          <p:cNvPr id="13" name="Rounded Rectangle 12"/>
          <p:cNvSpPr/>
          <p:nvPr/>
        </p:nvSpPr>
        <p:spPr>
          <a:xfrm>
            <a:off x="4251960" y="3122676"/>
            <a:ext cx="4114800" cy="1540764"/>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Add product form — photo upload &amp; delivery options</a:t>
            </a:r>
          </a:p>
        </p:txBody>
      </p:sp>
      <p:sp>
        <p:nvSpPr>
          <p:cNvPr id="14" name="TextBox 13"/>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15/39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Dashboard</a:t>
            </a:r>
          </a:p>
        </p:txBody>
      </p:sp>
      <p:pic>
        <p:nvPicPr>
          <p:cNvPr id="3" name="Picture 2" descr="grid.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customer's home base — a hero banner, personal rental stats (active / pending / completed counts), featured rentals, categories, and top sellers.</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Customer, every time they log in.</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Check the status of current rentals at a glance, or jump straight into browsing.</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Clicking "Browse Items" leads to the full Product Marketplace.</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Customer dashboard — overview &amp; rental stats</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16/39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Marketplace</a:t>
            </a:r>
          </a:p>
        </p:txBody>
      </p:sp>
      <p:pic>
        <p:nvPicPr>
          <p:cNvPr id="3" name="Picture 2" descr="search.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A searchable, filterable grid of every active product listing — filter by category, price range, district, and delivery option, with sorting.</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Customer.</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Search, filter, sort, and click into any product's detail page.</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Selecting a product and choosing to rent it leads into the Rental Request flow.</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Product marketplace — search, filters &amp; grid</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17/39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Rental Request Process</a:t>
            </a:r>
          </a:p>
        </p:txBody>
      </p:sp>
      <p:pic>
        <p:nvPicPr>
          <p:cNvPr id="3" name="Picture 2" descr="calendar.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Rent page — the customer selects start and end dates, a delivery method (Customer Pickup or Courier), and an address if needed, while the system live-calculates the rental fee, deposit, and delivery fee.</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Customer.</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Pick dates (validated against the item's real-time availability), choose a delivery method, review the cost breakdown, and submit.</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Submitting creates a rental with status PENDING_CONFIRMATION, which lands directly in the vendor's approval queue.</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Rent page — date selection &amp; price breakdown</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18/39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Seller Approval Process</a:t>
            </a:r>
          </a:p>
        </p:txBody>
      </p:sp>
      <p:pic>
        <p:nvPicPr>
          <p:cNvPr id="3" name="Picture 2" descr="check_circle.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rental detail page's "Your Decision" panel, where the vendor reviews the customer's details and the booking, then Accepts, Declines, or Rejects with a reason.</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Vendor.</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Accept (entering a pickup address, and a return address with a one-click "same as pickup" shortcut), Decline, or Reject with a reason.</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On acceptance, the rental moves to CONFIRMED and the customer is immediately prompted to pay.</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Rental detail — vendor decision panel (Accept / Decline / Reject)</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19/39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Payment System</a:t>
            </a:r>
          </a:p>
        </p:txBody>
      </p:sp>
      <p:pic>
        <p:nvPicPr>
          <p:cNvPr id="3" name="Picture 2" descr="wallet.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Payment page — a full breakdown of rental fee, deposit, and delivery fee, followed by a demo bKash payment flow.</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Customer.</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Review the cost breakdown, enter a bKash number, and confirm payment.</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On success, the rental advances to CONFIRMED → READY_FOR_PICKUP, and payment and deposit records are created; the vendor is notified to prepare the item.</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Payment page — cost breakdown &amp; bKash flow</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20/39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Delivery Process</a:t>
            </a:r>
          </a:p>
        </p:txBody>
      </p:sp>
      <p:pic>
        <p:nvPicPr>
          <p:cNvPr id="3" name="Picture 2" descr="truck.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For courier orders, the vendor enters a shipment method and tracking number; for pickup orders, the vendor marks the item ready and later confirms collection. The customer then confirms receipt or collection on their end.</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Vendor (dispatch) and the Customer (confirm receipt).</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Vendor: mark Shipped / Ready for Pickup. Customer: Confirm Receipt or Confirm Collection.</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Once the customer confirms, the rental becomes ACTIVE — and this is exactly where our automatic late-fee system starts watching the clock.</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Rental detail — delivery / shipment status</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21/39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Late Return Warning System</a:t>
            </a:r>
          </a:p>
        </p:txBody>
      </p:sp>
      <p:pic>
        <p:nvPicPr>
          <p:cNvPr id="3" name="Picture 2" descr="alert.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An automatic backend check compares "now" to the rental's expected return date. Once overdue, the status flips to OVERDUE, a red warning badge appears showing days late, daily charge, fee deducted, and remaining deposit, and the customer is notified.</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Triggered automatically by the system — visible to the Customer, the Vendor, and the Admin.</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No manual action is needed to trigger it. The customer is warned to return immediately; the vendor sees the fee accruing in real time; the admin can manually adjust the fee if a special case arises.</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Whether returned on time or late, the next step is the same — the customer initiates the return.</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Rental detail — overdue warning badge with late fee breakdown</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22/39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Return Process</a:t>
            </a:r>
          </a:p>
        </p:txBody>
      </p:sp>
      <p:pic>
        <p:nvPicPr>
          <p:cNvPr id="3" name="Picture 2" descr="refresh.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customer initiates a return (using the return method matched to how the item was originally delivered); the vendor then inspects the item and records its condition as Good or Damaged.</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Customer (initiates) and the Vendor (inspects and confirms).</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Customer: submit the return request. Vendor: confirm the returned condition.</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A "Good" return proceeds straight to deposit refund; a "Damaged" return is escalated to the Admin's damage claim queue.</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Rental detail — return request &amp; condition inspection</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23/39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Damage Claim System</a:t>
            </a:r>
          </a:p>
        </p:txBody>
      </p:sp>
      <p:pic>
        <p:nvPicPr>
          <p:cNvPr id="3" name="Picture 2" descr="camera.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vendor attaches photo evidence and a claimed deduction amount; the claim is queued for Admin review, where the admin examines the evidence and finalizes the deduction — calculated separately from any late fee already collected, to avoid double-charging the customer.</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Vendor (files the claim) and the Admin (resolves it).</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Vendor: upload evidence and a description of the damage. Admin: approve, adjust, or reject the claimed deduction.</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Once resolved, the rental completes and any remaining deposit is released to the customer.</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Admin panel — damage claim review with evidence</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24/39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Deposit Refund System</a:t>
            </a:r>
          </a:p>
        </p:txBody>
      </p:sp>
      <p:pic>
        <p:nvPicPr>
          <p:cNvPr id="3" name="Picture 2" descr="wallet.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After the return is confirmed — either immediately for a good-condition item, or after the admin resolves a damage claim — the remaining deposit (deposit minus late fee minus any approved damage deduction) is refunded to the customer, and the rental status becomes COMPLETED.</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Customer (receives the refund) and the Admin (oversees disputed cases).</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View the final refund breakdown; the rental is marked Completed.</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At the same moment, the vendor's earnings for this rental are finalized — let's look at how that's calculated.</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Rental detail — final deposit refund breakdown</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25/39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Commission Calculation</a:t>
            </a:r>
          </a:p>
        </p:txBody>
      </p:sp>
      <p:pic>
        <p:nvPicPr>
          <p:cNvPr id="3" name="Picture 2" descr="percent.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platform automatically deducts a small commission (2%) from the rental fee; the vendor receives the remainder as a payout credited to their wallet. Late fees and approved damage deductions are credited to the vendor separately from the customer's deposit refund.</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Vendor (views payouts/wallet) and the Admin (views total commission earned platform-wide).</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Vendor: check payout history and status (Pending → Completed). Admin: monitor total commission revenue across all rentals.</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With the money settled, the rental enters its final, trust-building step — reviews.</a:t>
            </a:r>
          </a:p>
        </p:txBody>
      </p:sp>
      <p:sp>
        <p:nvSpPr>
          <p:cNvPr id="12" name="Rounded Rectangle 11"/>
          <p:cNvSpPr/>
          <p:nvPr/>
        </p:nvSpPr>
        <p:spPr>
          <a:xfrm>
            <a:off x="4251960" y="1417320"/>
            <a:ext cx="4114800" cy="1540764"/>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Vendor payouts / wallet page</a:t>
            </a:r>
          </a:p>
        </p:txBody>
      </p:sp>
      <p:sp>
        <p:nvSpPr>
          <p:cNvPr id="13" name="Rounded Rectangle 12"/>
          <p:cNvSpPr/>
          <p:nvPr/>
        </p:nvSpPr>
        <p:spPr>
          <a:xfrm>
            <a:off x="4251960" y="3122676"/>
            <a:ext cx="4114800" cy="1540764"/>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Admin — commission overview</a:t>
            </a:r>
          </a:p>
        </p:txBody>
      </p:sp>
      <p:sp>
        <p:nvSpPr>
          <p:cNvPr id="14" name="TextBox 13"/>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26/39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Review and Rating System</a:t>
            </a:r>
          </a:p>
        </p:txBody>
      </p:sp>
      <p:pic>
        <p:nvPicPr>
          <p:cNvPr id="3" name="Picture 2" descr="star.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The customer rates the rental and vendor — a star rating plus written review — after completion. The vendor can reply publicly, and also privately rates the customer, making feedback mutual.</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Customer (reviews the vendor) and the Vendor (replies, and rates the customer).</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Submit a star rating and review text; vendor posts a public reply; vendor submits a private rating of the customer's behavior.</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These ratings feed directly into vendor profiles shown across the marketplace, completing the customer-facing loop.</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Rental detail — submit review &amp; vendor reply</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27/39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Admin Monitoring Dashboard</a:t>
            </a:r>
          </a:p>
        </p:txBody>
      </p:sp>
      <p:pic>
        <p:nvPicPr>
          <p:cNvPr id="3" name="Picture 2" descr="chart.png"/>
          <p:cNvPicPr>
            <a:picLocks noChangeAspect="1"/>
          </p:cNvPicPr>
          <p:nvPr/>
        </p:nvPicPr>
        <p:blipFill>
          <a:blip r:embed="rId2"/>
          <a:stretch>
            <a:fillRect/>
          </a:stretch>
        </p:blipFill>
        <p:spPr>
          <a:xfrm>
            <a:off x="7726680" y="548640"/>
            <a:ext cx="457200" cy="457200"/>
          </a:xfrm>
          <a:prstGeom prst="rect">
            <a:avLst/>
          </a:prstGeom>
        </p:spPr>
      </p:pic>
      <p:pic>
        <p:nvPicPr>
          <p:cNvPr id="4" name="Picture 3" descr="document.png"/>
          <p:cNvPicPr>
            <a:picLocks noChangeAspect="1"/>
          </p:cNvPicPr>
          <p:nvPr/>
        </p:nvPicPr>
        <p:blipFill>
          <a:blip r:embed="rId3"/>
          <a:stretch>
            <a:fillRect/>
          </a:stretch>
        </p:blipFill>
        <p:spPr>
          <a:xfrm>
            <a:off x="1188720" y="1417320"/>
            <a:ext cx="237744" cy="237744"/>
          </a:xfrm>
          <a:prstGeom prst="rect">
            <a:avLst/>
          </a:prstGeom>
        </p:spPr>
      </p:pic>
      <p:sp>
        <p:nvSpPr>
          <p:cNvPr id="5" name="TextBox 4"/>
          <p:cNvSpPr txBox="1"/>
          <p:nvPr/>
        </p:nvSpPr>
        <p:spPr>
          <a:xfrm>
            <a:off x="1499616" y="1417320"/>
            <a:ext cx="2478024" cy="822960"/>
          </a:xfrm>
          <a:prstGeom prst="rect">
            <a:avLst/>
          </a:prstGeom>
          <a:noFill/>
        </p:spPr>
        <p:txBody>
          <a:bodyPr wrap="square" anchor="t" lIns="0" rIns="0" tIns="0" bIns="0">
            <a:spAutoFit/>
          </a:bodyPr>
          <a:lstStyle/>
          <a:p>
            <a:r>
              <a:rPr sz="950" b="1" i="0">
                <a:solidFill>
                  <a:srgbClr val="E0B4A4"/>
                </a:solidFill>
                <a:latin typeface="Arimo"/>
              </a:rPr>
              <a:t>WHAT IT DOES</a:t>
            </a:r>
          </a:p>
          <a:p>
            <a:pPr>
              <a:spcBef>
                <a:spcPts val="100"/>
              </a:spcBef>
            </a:pPr>
            <a:r>
              <a:rPr sz="1080" b="0" i="0">
                <a:solidFill>
                  <a:srgbClr val="1C343C"/>
                </a:solidFill>
                <a:latin typeface="Arimo"/>
              </a:rPr>
              <a:t>Platform-wide statistics — total users, vendors, products, and rentals; active, pending, and overdue counts; total commission earned; open disputes — plus quick links to manage every entity in the system.</a:t>
            </a:r>
          </a:p>
        </p:txBody>
      </p:sp>
      <p:pic>
        <p:nvPicPr>
          <p:cNvPr id="6" name="Picture 5" descr="user.png"/>
          <p:cNvPicPr>
            <a:picLocks noChangeAspect="1"/>
          </p:cNvPicPr>
          <p:nvPr/>
        </p:nvPicPr>
        <p:blipFill>
          <a:blip r:embed="rId4"/>
          <a:stretch>
            <a:fillRect/>
          </a:stretch>
        </p:blipFill>
        <p:spPr>
          <a:xfrm>
            <a:off x="1188720" y="2258568"/>
            <a:ext cx="237744" cy="237744"/>
          </a:xfrm>
          <a:prstGeom prst="rect">
            <a:avLst/>
          </a:prstGeom>
        </p:spPr>
      </p:pic>
      <p:sp>
        <p:nvSpPr>
          <p:cNvPr id="7" name="TextBox 6"/>
          <p:cNvSpPr txBox="1"/>
          <p:nvPr/>
        </p:nvSpPr>
        <p:spPr>
          <a:xfrm>
            <a:off x="1499616" y="2258568"/>
            <a:ext cx="2478024" cy="822960"/>
          </a:xfrm>
          <a:prstGeom prst="rect">
            <a:avLst/>
          </a:prstGeom>
          <a:noFill/>
        </p:spPr>
        <p:txBody>
          <a:bodyPr wrap="square" anchor="t" lIns="0" rIns="0" tIns="0" bIns="0">
            <a:spAutoFit/>
          </a:bodyPr>
          <a:lstStyle/>
          <a:p>
            <a:r>
              <a:rPr sz="950" b="1" i="0">
                <a:solidFill>
                  <a:srgbClr val="E0B4A4"/>
                </a:solidFill>
                <a:latin typeface="Arimo"/>
              </a:rPr>
              <a:t>WHO USES IT</a:t>
            </a:r>
          </a:p>
          <a:p>
            <a:pPr>
              <a:spcBef>
                <a:spcPts val="100"/>
              </a:spcBef>
            </a:pPr>
            <a:r>
              <a:rPr sz="1080" b="0" i="0">
                <a:solidFill>
                  <a:srgbClr val="1C343C"/>
                </a:solidFill>
                <a:latin typeface="Arimo"/>
              </a:rPr>
              <a:t>The Admin.</a:t>
            </a:r>
          </a:p>
        </p:txBody>
      </p:sp>
      <p:pic>
        <p:nvPicPr>
          <p:cNvPr id="8" name="Picture 7" descr="lightning.png"/>
          <p:cNvPicPr>
            <a:picLocks noChangeAspect="1"/>
          </p:cNvPicPr>
          <p:nvPr/>
        </p:nvPicPr>
        <p:blipFill>
          <a:blip r:embed="rId5"/>
          <a:stretch>
            <a:fillRect/>
          </a:stretch>
        </p:blipFill>
        <p:spPr>
          <a:xfrm>
            <a:off x="1188720" y="3099816"/>
            <a:ext cx="237744" cy="237744"/>
          </a:xfrm>
          <a:prstGeom prst="rect">
            <a:avLst/>
          </a:prstGeom>
        </p:spPr>
      </p:pic>
      <p:sp>
        <p:nvSpPr>
          <p:cNvPr id="9" name="TextBox 8"/>
          <p:cNvSpPr txBox="1"/>
          <p:nvPr/>
        </p:nvSpPr>
        <p:spPr>
          <a:xfrm>
            <a:off x="1499616" y="3099816"/>
            <a:ext cx="2478024" cy="822960"/>
          </a:xfrm>
          <a:prstGeom prst="rect">
            <a:avLst/>
          </a:prstGeom>
          <a:noFill/>
        </p:spPr>
        <p:txBody>
          <a:bodyPr wrap="square" anchor="t" lIns="0" rIns="0" tIns="0" bIns="0">
            <a:spAutoFit/>
          </a:bodyPr>
          <a:lstStyle/>
          <a:p>
            <a:r>
              <a:rPr sz="950" b="1" i="0">
                <a:solidFill>
                  <a:srgbClr val="E0B4A4"/>
                </a:solidFill>
                <a:latin typeface="Arimo"/>
              </a:rPr>
              <a:t>KEY ACTIONS</a:t>
            </a:r>
          </a:p>
          <a:p>
            <a:pPr>
              <a:spcBef>
                <a:spcPts val="100"/>
              </a:spcBef>
            </a:pPr>
            <a:r>
              <a:rPr sz="1080" b="0" i="0">
                <a:solidFill>
                  <a:srgbClr val="1C343C"/>
                </a:solidFill>
                <a:latin typeface="Arimo"/>
              </a:rPr>
              <a:t>Monitor platform KPIs at a glance, drill into any list (rentals, vendors, disputes, overdue rentals), and intervene manually wherever needed.</a:t>
            </a:r>
          </a:p>
        </p:txBody>
      </p:sp>
      <p:pic>
        <p:nvPicPr>
          <p:cNvPr id="10" name="Picture 9" descr="arrow_right.png"/>
          <p:cNvPicPr>
            <a:picLocks noChangeAspect="1"/>
          </p:cNvPicPr>
          <p:nvPr/>
        </p:nvPicPr>
        <p:blipFill>
          <a:blip r:embed="rId6"/>
          <a:stretch>
            <a:fillRect/>
          </a:stretch>
        </p:blipFill>
        <p:spPr>
          <a:xfrm>
            <a:off x="1188720" y="3941064"/>
            <a:ext cx="237744" cy="237744"/>
          </a:xfrm>
          <a:prstGeom prst="rect">
            <a:avLst/>
          </a:prstGeom>
        </p:spPr>
      </p:pic>
      <p:sp>
        <p:nvSpPr>
          <p:cNvPr id="11" name="TextBox 10"/>
          <p:cNvSpPr txBox="1"/>
          <p:nvPr/>
        </p:nvSpPr>
        <p:spPr>
          <a:xfrm>
            <a:off x="1499616" y="3941064"/>
            <a:ext cx="2478024" cy="822960"/>
          </a:xfrm>
          <a:prstGeom prst="rect">
            <a:avLst/>
          </a:prstGeom>
          <a:noFill/>
        </p:spPr>
        <p:txBody>
          <a:bodyPr wrap="square" anchor="t" lIns="0" rIns="0" tIns="0" bIns="0">
            <a:spAutoFit/>
          </a:bodyPr>
          <a:lstStyle/>
          <a:p>
            <a:r>
              <a:rPr sz="950" b="1" i="0">
                <a:solidFill>
                  <a:srgbClr val="E0B4A4"/>
                </a:solidFill>
                <a:latin typeface="Arimo"/>
              </a:rPr>
              <a:t>LEADS TO</a:t>
            </a:r>
          </a:p>
          <a:p>
            <a:pPr>
              <a:spcBef>
                <a:spcPts val="100"/>
              </a:spcBef>
            </a:pPr>
            <a:r>
              <a:rPr sz="1080" b="0" i="0">
                <a:solidFill>
                  <a:srgbClr val="1C343C"/>
                </a:solidFill>
                <a:latin typeface="Arimo"/>
              </a:rPr>
              <a:t>This dashboard is the control tower for everything we've just walked through, end to end.</a:t>
            </a:r>
          </a:p>
        </p:txBody>
      </p:sp>
      <p:sp>
        <p:nvSpPr>
          <p:cNvPr id="12" name="Rounded Rectangle 11"/>
          <p:cNvSpPr/>
          <p:nvPr/>
        </p:nvSpPr>
        <p:spPr>
          <a:xfrm>
            <a:off x="4251960" y="1417320"/>
            <a:ext cx="4114800" cy="3246120"/>
          </a:xfrm>
          <a:prstGeom prst="roundRect">
            <a:avLst>
              <a:gd name="adj" fmla="val 6000"/>
            </a:avLst>
          </a:prstGeom>
          <a:solidFill>
            <a:srgbClr val="E3DCD2"/>
          </a:solidFill>
          <a:ln w="19050">
            <a:solidFill>
              <a:srgbClr val="4C6A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4C6A78"/>
                </a:solidFill>
                <a:latin typeface="Arimo"/>
              </a:rPr>
              <a:t>📷  INSERT SCREENSHOT</a:t>
            </a:r>
          </a:p>
          <a:p>
            <a:pPr algn="ctr"/>
            <a:r>
              <a:rPr sz="1000" b="0" i="1">
                <a:solidFill>
                  <a:srgbClr val="4C6A78"/>
                </a:solidFill>
                <a:latin typeface="Arimo"/>
              </a:rPr>
              <a:t>Admin dashboard — platform-wide statistics</a:t>
            </a:r>
          </a:p>
        </p:txBody>
      </p:sp>
      <p:sp>
        <p:nvSpPr>
          <p:cNvPr id="13" name="TextBox 1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28/39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Design Overview</a:t>
            </a:r>
          </a:p>
        </p:txBody>
      </p:sp>
      <p:cxnSp>
        <p:nvCxnSpPr>
          <p:cNvPr id="3" name="Connector 2"/>
          <p:cNvCxnSpPr/>
          <p:nvPr/>
        </p:nvCxnSpPr>
        <p:spPr>
          <a:xfrm flipH="1">
            <a:off x="1280160" y="1609344"/>
            <a:ext cx="5212080" cy="0"/>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3017520" y="1609344"/>
            <a:ext cx="3474720" cy="0"/>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754880" y="1609344"/>
            <a:ext cx="1737360" cy="0"/>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92240" y="1609344"/>
            <a:ext cx="1737360" cy="0"/>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280160" y="1609344"/>
            <a:ext cx="5212080" cy="795528"/>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3017520" y="1609344"/>
            <a:ext cx="3474720" cy="795528"/>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754880" y="1609344"/>
            <a:ext cx="1737360" cy="795528"/>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92240" y="1609344"/>
            <a:ext cx="0" cy="795528"/>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492240" y="1609344"/>
            <a:ext cx="1737360" cy="795528"/>
          </a:xfrm>
          <a:prstGeom prst="line">
            <a:avLst/>
          </a:prstGeom>
          <a:ln w="12700">
            <a:solidFill>
              <a:srgbClr val="A7B3B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371600"/>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User</a:t>
            </a:r>
          </a:p>
        </p:txBody>
      </p:sp>
      <p:sp>
        <p:nvSpPr>
          <p:cNvPr id="13" name="Rounded Rectangle 12"/>
          <p:cNvSpPr/>
          <p:nvPr/>
        </p:nvSpPr>
        <p:spPr>
          <a:xfrm>
            <a:off x="2240280" y="1371600"/>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VendorProfile</a:t>
            </a:r>
          </a:p>
        </p:txBody>
      </p:sp>
      <p:sp>
        <p:nvSpPr>
          <p:cNvPr id="14" name="Rounded Rectangle 13"/>
          <p:cNvSpPr/>
          <p:nvPr/>
        </p:nvSpPr>
        <p:spPr>
          <a:xfrm>
            <a:off x="3977640" y="1371600"/>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Product</a:t>
            </a:r>
          </a:p>
        </p:txBody>
      </p:sp>
      <p:sp>
        <p:nvSpPr>
          <p:cNvPr id="15" name="Rounded Rectangle 14"/>
          <p:cNvSpPr/>
          <p:nvPr/>
        </p:nvSpPr>
        <p:spPr>
          <a:xfrm>
            <a:off x="5715000" y="1371600"/>
            <a:ext cx="1554480" cy="475488"/>
          </a:xfrm>
          <a:prstGeom prst="roundRect">
            <a:avLst>
              <a:gd name="adj" fmla="val 6000"/>
            </a:avLst>
          </a:prstGeom>
          <a:solidFill>
            <a:srgbClr val="E0B4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C343C"/>
                </a:solidFill>
                <a:latin typeface="Arimo"/>
              </a:rPr>
              <a:t>Rental (hub)</a:t>
            </a:r>
          </a:p>
        </p:txBody>
      </p:sp>
      <p:sp>
        <p:nvSpPr>
          <p:cNvPr id="16" name="Rounded Rectangle 15"/>
          <p:cNvSpPr/>
          <p:nvPr/>
        </p:nvSpPr>
        <p:spPr>
          <a:xfrm>
            <a:off x="7452360" y="1371600"/>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Payment</a:t>
            </a:r>
          </a:p>
        </p:txBody>
      </p:sp>
      <p:sp>
        <p:nvSpPr>
          <p:cNvPr id="17" name="Rounded Rectangle 16"/>
          <p:cNvSpPr/>
          <p:nvPr/>
        </p:nvSpPr>
        <p:spPr>
          <a:xfrm>
            <a:off x="502920" y="2167128"/>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VendorPayout</a:t>
            </a:r>
          </a:p>
        </p:txBody>
      </p:sp>
      <p:sp>
        <p:nvSpPr>
          <p:cNvPr id="18" name="Rounded Rectangle 17"/>
          <p:cNvSpPr/>
          <p:nvPr/>
        </p:nvSpPr>
        <p:spPr>
          <a:xfrm>
            <a:off x="2240280" y="2167128"/>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ReturnRecord</a:t>
            </a:r>
          </a:p>
        </p:txBody>
      </p:sp>
      <p:sp>
        <p:nvSpPr>
          <p:cNvPr id="19" name="Rounded Rectangle 18"/>
          <p:cNvSpPr/>
          <p:nvPr/>
        </p:nvSpPr>
        <p:spPr>
          <a:xfrm>
            <a:off x="3977640" y="2167128"/>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LateFeeTransaction</a:t>
            </a:r>
          </a:p>
        </p:txBody>
      </p:sp>
      <p:sp>
        <p:nvSpPr>
          <p:cNvPr id="20" name="Rounded Rectangle 19"/>
          <p:cNvSpPr/>
          <p:nvPr/>
        </p:nvSpPr>
        <p:spPr>
          <a:xfrm>
            <a:off x="5715000" y="2167128"/>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Review</a:t>
            </a:r>
          </a:p>
        </p:txBody>
      </p:sp>
      <p:sp>
        <p:nvSpPr>
          <p:cNvPr id="21" name="Rounded Rectangle 20"/>
          <p:cNvSpPr/>
          <p:nvPr/>
        </p:nvSpPr>
        <p:spPr>
          <a:xfrm>
            <a:off x="7452360" y="2167128"/>
            <a:ext cx="1554480" cy="475488"/>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Arimo"/>
              </a:rPr>
              <a:t>Dispute</a:t>
            </a:r>
          </a:p>
        </p:txBody>
      </p:sp>
      <p:sp>
        <p:nvSpPr>
          <p:cNvPr id="22" name="TextBox 21"/>
          <p:cNvSpPr txBox="1"/>
          <p:nvPr/>
        </p:nvSpPr>
        <p:spPr>
          <a:xfrm>
            <a:off x="1188720" y="3611880"/>
            <a:ext cx="7132320" cy="1371600"/>
          </a:xfrm>
          <a:prstGeom prst="rect">
            <a:avLst/>
          </a:prstGeom>
          <a:noFill/>
        </p:spPr>
        <p:txBody>
          <a:bodyPr wrap="square" anchor="t" lIns="0" rIns="0" tIns="0" bIns="0">
            <a:spAutoFit/>
          </a:bodyPr>
          <a:lstStyle/>
          <a:p>
            <a:pPr>
              <a:spcAft>
                <a:spcPts val="500"/>
              </a:spcAft>
            </a:pPr>
            <a:r>
              <a:rPr sz="850" b="1" i="0">
                <a:solidFill>
                  <a:srgbClr val="E0B4A4"/>
                </a:solidFill>
                <a:latin typeface="Arimo"/>
              </a:rPr>
              <a:t>●  </a:t>
            </a:r>
            <a:r>
              <a:rPr sz="1050" b="0" i="0">
                <a:solidFill>
                  <a:srgbClr val="1C343C"/>
                </a:solidFill>
                <a:latin typeface="Arimo"/>
              </a:rPr>
              <a:t>Around 20 normalized tables in MySQL, accessed through Prisma ORM for type-safe queries</a:t>
            </a:r>
          </a:p>
          <a:p>
            <a:pPr>
              <a:spcAft>
                <a:spcPts val="500"/>
              </a:spcAft>
            </a:pPr>
            <a:r>
              <a:rPr sz="850" b="1" i="0">
                <a:solidFill>
                  <a:srgbClr val="E0B4A4"/>
                </a:solidFill>
                <a:latin typeface="Arimo"/>
              </a:rPr>
              <a:t>●  </a:t>
            </a:r>
            <a:r>
              <a:rPr sz="1050" b="0" i="0">
                <a:solidFill>
                  <a:srgbClr val="1C343C"/>
                </a:solidFill>
                <a:latin typeface="Arimo"/>
              </a:rPr>
              <a:t>Rental acts as the central "hub" table connecting almost everything else</a:t>
            </a:r>
          </a:p>
          <a:p>
            <a:pPr>
              <a:spcAft>
                <a:spcPts val="500"/>
              </a:spcAft>
            </a:pPr>
            <a:r>
              <a:rPr sz="850" b="1" i="0">
                <a:solidFill>
                  <a:srgbClr val="E0B4A4"/>
                </a:solidFill>
                <a:latin typeface="Arimo"/>
              </a:rPr>
              <a:t>●  </a:t>
            </a:r>
            <a:r>
              <a:rPr sz="1050" b="0" i="0">
                <a:solidFill>
                  <a:srgbClr val="1C343C"/>
                </a:solidFill>
                <a:latin typeface="Arimo"/>
              </a:rPr>
              <a:t>User 1—1 VendorProfile  |  VendorProfile 1—N Product  |  Product 1—N Rental</a:t>
            </a:r>
          </a:p>
          <a:p>
            <a:pPr>
              <a:spcAft>
                <a:spcPts val="500"/>
              </a:spcAft>
            </a:pPr>
            <a:r>
              <a:rPr sz="850" b="1" i="0">
                <a:solidFill>
                  <a:srgbClr val="E0B4A4"/>
                </a:solidFill>
                <a:latin typeface="Arimo"/>
              </a:rPr>
              <a:t>●  </a:t>
            </a:r>
            <a:r>
              <a:rPr sz="1050" b="0" i="0">
                <a:solidFill>
                  <a:srgbClr val="1C343C"/>
                </a:solidFill>
                <a:latin typeface="Arimo"/>
              </a:rPr>
              <a:t>Rental 1—N Payment  |  Rental 1—1 ReturnRecord  |  Rental 1—N LateFeeTransaction</a:t>
            </a:r>
          </a:p>
          <a:p>
            <a:pPr>
              <a:spcAft>
                <a:spcPts val="500"/>
              </a:spcAft>
            </a:pPr>
            <a:r>
              <a:rPr sz="850" b="1" i="0">
                <a:solidFill>
                  <a:srgbClr val="E0B4A4"/>
                </a:solidFill>
                <a:latin typeface="Arimo"/>
              </a:rPr>
              <a:t>●  </a:t>
            </a:r>
            <a:r>
              <a:rPr sz="1050" b="0" i="0">
                <a:solidFill>
                  <a:srgbClr val="1C343C"/>
                </a:solidFill>
                <a:latin typeface="Arimo"/>
              </a:rPr>
              <a:t>Supporting tables: VendorPayout, Review, Dispute, Notification, and more</a:t>
            </a:r>
          </a:p>
        </p:txBody>
      </p:sp>
      <p:sp>
        <p:nvSpPr>
          <p:cNvPr id="23" name="TextBox 22"/>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29/39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Features</a:t>
            </a:r>
          </a:p>
        </p:txBody>
      </p:sp>
      <p:pic>
        <p:nvPicPr>
          <p:cNvPr id="3" name="Picture 2" descr="lock.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JWT-based authentication with short-lived access tokens plus refresh tokens</a:t>
            </a:r>
          </a:p>
          <a:p>
            <a:pPr>
              <a:spcAft>
                <a:spcPts val="1100"/>
              </a:spcAft>
            </a:pPr>
            <a:r>
              <a:rPr sz="1150" b="1" i="0">
                <a:solidFill>
                  <a:srgbClr val="E0B4A4"/>
                </a:solidFill>
                <a:latin typeface="Arimo"/>
              </a:rPr>
              <a:t>●  </a:t>
            </a:r>
            <a:r>
              <a:rPr sz="1350" b="0" i="0">
                <a:solidFill>
                  <a:srgbClr val="1C343C"/>
                </a:solidFill>
                <a:latin typeface="Arimo"/>
              </a:rPr>
              <a:t>Passwords hashed with bcrypt — never stored in plain text</a:t>
            </a:r>
          </a:p>
          <a:p>
            <a:pPr>
              <a:spcAft>
                <a:spcPts val="1100"/>
              </a:spcAft>
            </a:pPr>
            <a:r>
              <a:rPr sz="1150" b="1" i="0">
                <a:solidFill>
                  <a:srgbClr val="E0B4A4"/>
                </a:solidFill>
                <a:latin typeface="Arimo"/>
              </a:rPr>
              <a:t>●  </a:t>
            </a:r>
            <a:r>
              <a:rPr sz="1350" b="0" i="0">
                <a:solidFill>
                  <a:srgbClr val="1C343C"/>
                </a:solidFill>
                <a:latin typeface="Arimo"/>
              </a:rPr>
              <a:t>Role-based authorization middleware (Customer / Vendor / Admin) enforced on every protected route</a:t>
            </a:r>
          </a:p>
          <a:p>
            <a:pPr>
              <a:spcAft>
                <a:spcPts val="1100"/>
              </a:spcAft>
            </a:pPr>
            <a:r>
              <a:rPr sz="1150" b="1" i="0">
                <a:solidFill>
                  <a:srgbClr val="E0B4A4"/>
                </a:solidFill>
                <a:latin typeface="Arimo"/>
              </a:rPr>
              <a:t>●  </a:t>
            </a:r>
            <a:r>
              <a:rPr sz="1350" b="0" i="0">
                <a:solidFill>
                  <a:srgbClr val="1C343C"/>
                </a:solidFill>
                <a:latin typeface="Arimo"/>
              </a:rPr>
              <a:t>Input validation on every request using Zod schemas</a:t>
            </a:r>
          </a:p>
          <a:p>
            <a:pPr>
              <a:spcAft>
                <a:spcPts val="1100"/>
              </a:spcAft>
            </a:pPr>
            <a:r>
              <a:rPr sz="1150" b="1" i="0">
                <a:solidFill>
                  <a:srgbClr val="E0B4A4"/>
                </a:solidFill>
                <a:latin typeface="Arimo"/>
              </a:rPr>
              <a:t>●  </a:t>
            </a:r>
            <a:r>
              <a:rPr sz="1350" b="0" i="0">
                <a:solidFill>
                  <a:srgbClr val="1C343C"/>
                </a:solidFill>
                <a:latin typeface="Arimo"/>
              </a:rPr>
              <a:t>Rate limiting and Helmet security headers; HTTPS/TLS termination via Nginx in production</a:t>
            </a:r>
          </a:p>
          <a:p>
            <a:pPr>
              <a:spcAft>
                <a:spcPts val="1100"/>
              </a:spcAft>
            </a:pPr>
            <a:r>
              <a:rPr sz="1150" b="1" i="0">
                <a:solidFill>
                  <a:srgbClr val="E0B4A4"/>
                </a:solidFill>
                <a:latin typeface="Arimo"/>
              </a:rPr>
              <a:t>●  </a:t>
            </a:r>
            <a:r>
              <a:rPr sz="1350" b="0" i="0">
                <a:solidFill>
                  <a:srgbClr val="1C343C"/>
                </a:solidFill>
                <a:latin typeface="Arimo"/>
              </a:rPr>
              <a:t>Strict file-upload validation (type and size) for product images and damage evidence photos</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30/39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Workflow Diagram</a:t>
            </a:r>
          </a:p>
        </p:txBody>
      </p:sp>
      <p:sp>
        <p:nvSpPr>
          <p:cNvPr id="3" name="Rounded Rectangle 2"/>
          <p:cNvSpPr/>
          <p:nvPr/>
        </p:nvSpPr>
        <p:spPr>
          <a:xfrm>
            <a:off x="411480" y="1508760"/>
            <a:ext cx="1547164" cy="777240"/>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Register &amp;</a:t>
            </a:r>
          </a:p>
          <a:p>
            <a:pPr algn="ctr"/>
            <a:r>
              <a:rPr sz="950" b="1" i="0">
                <a:solidFill>
                  <a:srgbClr val="FFFFFF"/>
                </a:solidFill>
                <a:latin typeface="Arimo"/>
              </a:rPr>
              <a:t>Verify</a:t>
            </a:r>
          </a:p>
        </p:txBody>
      </p:sp>
      <p:sp>
        <p:nvSpPr>
          <p:cNvPr id="4" name="Oval 3"/>
          <p:cNvSpPr/>
          <p:nvPr/>
        </p:nvSpPr>
        <p:spPr>
          <a:xfrm>
            <a:off x="320040" y="141732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1</a:t>
            </a:r>
          </a:p>
        </p:txBody>
      </p:sp>
      <p:sp>
        <p:nvSpPr>
          <p:cNvPr id="5" name="Rounded Rectangle 4"/>
          <p:cNvSpPr/>
          <p:nvPr/>
        </p:nvSpPr>
        <p:spPr>
          <a:xfrm>
            <a:off x="2104948" y="1508760"/>
            <a:ext cx="1547164" cy="777240"/>
          </a:xfrm>
          <a:prstGeom prst="roundRect">
            <a:avLst>
              <a:gd name="adj" fmla="val 6000"/>
            </a:avLst>
          </a:prstGeom>
          <a:solidFill>
            <a:srgbClr val="E0B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Browse</a:t>
            </a:r>
          </a:p>
          <a:p>
            <a:pPr algn="ctr"/>
            <a:r>
              <a:rPr sz="950" b="1" i="0">
                <a:solidFill>
                  <a:srgbClr val="FFFFFF"/>
                </a:solidFill>
                <a:latin typeface="Arimo"/>
              </a:rPr>
              <a:t>Marketplace</a:t>
            </a:r>
          </a:p>
        </p:txBody>
      </p:sp>
      <p:sp>
        <p:nvSpPr>
          <p:cNvPr id="6" name="Oval 5"/>
          <p:cNvSpPr/>
          <p:nvPr/>
        </p:nvSpPr>
        <p:spPr>
          <a:xfrm>
            <a:off x="2013508" y="141732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2</a:t>
            </a:r>
          </a:p>
        </p:txBody>
      </p:sp>
      <p:sp>
        <p:nvSpPr>
          <p:cNvPr id="7" name="Rounded Rectangle 6"/>
          <p:cNvSpPr/>
          <p:nvPr/>
        </p:nvSpPr>
        <p:spPr>
          <a:xfrm>
            <a:off x="3798416" y="1508760"/>
            <a:ext cx="1547164" cy="777240"/>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Request</a:t>
            </a:r>
          </a:p>
          <a:p>
            <a:pPr algn="ctr"/>
            <a:r>
              <a:rPr sz="950" b="1" i="0">
                <a:solidFill>
                  <a:srgbClr val="FFFFFF"/>
                </a:solidFill>
                <a:latin typeface="Arimo"/>
              </a:rPr>
              <a:t>Rental</a:t>
            </a:r>
          </a:p>
        </p:txBody>
      </p:sp>
      <p:sp>
        <p:nvSpPr>
          <p:cNvPr id="8" name="Oval 7"/>
          <p:cNvSpPr/>
          <p:nvPr/>
        </p:nvSpPr>
        <p:spPr>
          <a:xfrm>
            <a:off x="3706976" y="141732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3</a:t>
            </a:r>
          </a:p>
        </p:txBody>
      </p:sp>
      <p:sp>
        <p:nvSpPr>
          <p:cNvPr id="9" name="Rounded Rectangle 8"/>
          <p:cNvSpPr/>
          <p:nvPr/>
        </p:nvSpPr>
        <p:spPr>
          <a:xfrm>
            <a:off x="5491884" y="1508760"/>
            <a:ext cx="1547164" cy="777240"/>
          </a:xfrm>
          <a:prstGeom prst="roundRect">
            <a:avLst>
              <a:gd name="adj" fmla="val 6000"/>
            </a:avLst>
          </a:prstGeom>
          <a:solidFill>
            <a:srgbClr val="E0B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Vendor</a:t>
            </a:r>
          </a:p>
          <a:p>
            <a:pPr algn="ctr"/>
            <a:r>
              <a:rPr sz="950" b="1" i="0">
                <a:solidFill>
                  <a:srgbClr val="FFFFFF"/>
                </a:solidFill>
                <a:latin typeface="Arimo"/>
              </a:rPr>
              <a:t>Approves</a:t>
            </a:r>
          </a:p>
        </p:txBody>
      </p:sp>
      <p:sp>
        <p:nvSpPr>
          <p:cNvPr id="10" name="Oval 9"/>
          <p:cNvSpPr/>
          <p:nvPr/>
        </p:nvSpPr>
        <p:spPr>
          <a:xfrm>
            <a:off x="5400444" y="141732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4</a:t>
            </a:r>
          </a:p>
        </p:txBody>
      </p:sp>
      <p:sp>
        <p:nvSpPr>
          <p:cNvPr id="11" name="Rounded Rectangle 10"/>
          <p:cNvSpPr/>
          <p:nvPr/>
        </p:nvSpPr>
        <p:spPr>
          <a:xfrm>
            <a:off x="7185352" y="1508760"/>
            <a:ext cx="1547164" cy="777240"/>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Pay</a:t>
            </a:r>
          </a:p>
          <a:p>
            <a:pPr algn="ctr"/>
            <a:r>
              <a:rPr sz="950" b="1" i="0">
                <a:solidFill>
                  <a:srgbClr val="FFFFFF"/>
                </a:solidFill>
                <a:latin typeface="Arimo"/>
              </a:rPr>
              <a:t>(Demo bKash)</a:t>
            </a:r>
          </a:p>
        </p:txBody>
      </p:sp>
      <p:sp>
        <p:nvSpPr>
          <p:cNvPr id="12" name="Oval 11"/>
          <p:cNvSpPr/>
          <p:nvPr/>
        </p:nvSpPr>
        <p:spPr>
          <a:xfrm>
            <a:off x="7093912" y="141732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5</a:t>
            </a:r>
          </a:p>
        </p:txBody>
      </p:sp>
      <p:sp>
        <p:nvSpPr>
          <p:cNvPr id="13" name="Rounded Rectangle 12"/>
          <p:cNvSpPr/>
          <p:nvPr/>
        </p:nvSpPr>
        <p:spPr>
          <a:xfrm>
            <a:off x="411480" y="2788920"/>
            <a:ext cx="1547164" cy="777240"/>
          </a:xfrm>
          <a:prstGeom prst="roundRect">
            <a:avLst>
              <a:gd name="adj" fmla="val 6000"/>
            </a:avLst>
          </a:prstGeom>
          <a:solidFill>
            <a:srgbClr val="E0B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Deliver /</a:t>
            </a:r>
          </a:p>
          <a:p>
            <a:pPr algn="ctr"/>
            <a:r>
              <a:rPr sz="950" b="1" i="0">
                <a:solidFill>
                  <a:srgbClr val="FFFFFF"/>
                </a:solidFill>
                <a:latin typeface="Arimo"/>
              </a:rPr>
              <a:t>Pickup</a:t>
            </a:r>
          </a:p>
        </p:txBody>
      </p:sp>
      <p:sp>
        <p:nvSpPr>
          <p:cNvPr id="14" name="Oval 13"/>
          <p:cNvSpPr/>
          <p:nvPr/>
        </p:nvSpPr>
        <p:spPr>
          <a:xfrm>
            <a:off x="320040" y="269748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6</a:t>
            </a:r>
          </a:p>
        </p:txBody>
      </p:sp>
      <p:sp>
        <p:nvSpPr>
          <p:cNvPr id="15" name="Rounded Rectangle 14"/>
          <p:cNvSpPr/>
          <p:nvPr/>
        </p:nvSpPr>
        <p:spPr>
          <a:xfrm>
            <a:off x="2104948" y="2788920"/>
            <a:ext cx="1547164" cy="777240"/>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Active</a:t>
            </a:r>
          </a:p>
          <a:p>
            <a:pPr algn="ctr"/>
            <a:r>
              <a:rPr sz="950" b="1" i="0">
                <a:solidFill>
                  <a:srgbClr val="FFFFFF"/>
                </a:solidFill>
                <a:latin typeface="Arimo"/>
              </a:rPr>
              <a:t>(Late-Fee Watch)</a:t>
            </a:r>
          </a:p>
        </p:txBody>
      </p:sp>
      <p:sp>
        <p:nvSpPr>
          <p:cNvPr id="16" name="Oval 15"/>
          <p:cNvSpPr/>
          <p:nvPr/>
        </p:nvSpPr>
        <p:spPr>
          <a:xfrm>
            <a:off x="2013508" y="269748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7</a:t>
            </a:r>
          </a:p>
        </p:txBody>
      </p:sp>
      <p:sp>
        <p:nvSpPr>
          <p:cNvPr id="17" name="Rounded Rectangle 16"/>
          <p:cNvSpPr/>
          <p:nvPr/>
        </p:nvSpPr>
        <p:spPr>
          <a:xfrm>
            <a:off x="3798416" y="2788920"/>
            <a:ext cx="1547164" cy="777240"/>
          </a:xfrm>
          <a:prstGeom prst="roundRect">
            <a:avLst>
              <a:gd name="adj" fmla="val 6000"/>
            </a:avLst>
          </a:prstGeom>
          <a:solidFill>
            <a:srgbClr val="E0B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Return &amp;</a:t>
            </a:r>
          </a:p>
          <a:p>
            <a:pPr algn="ctr"/>
            <a:r>
              <a:rPr sz="950" b="1" i="0">
                <a:solidFill>
                  <a:srgbClr val="FFFFFF"/>
                </a:solidFill>
                <a:latin typeface="Arimo"/>
              </a:rPr>
              <a:t>Inspect</a:t>
            </a:r>
          </a:p>
        </p:txBody>
      </p:sp>
      <p:sp>
        <p:nvSpPr>
          <p:cNvPr id="18" name="Oval 17"/>
          <p:cNvSpPr/>
          <p:nvPr/>
        </p:nvSpPr>
        <p:spPr>
          <a:xfrm>
            <a:off x="3706976" y="269748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8</a:t>
            </a:r>
          </a:p>
        </p:txBody>
      </p:sp>
      <p:sp>
        <p:nvSpPr>
          <p:cNvPr id="19" name="Rounded Rectangle 18"/>
          <p:cNvSpPr/>
          <p:nvPr/>
        </p:nvSpPr>
        <p:spPr>
          <a:xfrm>
            <a:off x="5491884" y="2788920"/>
            <a:ext cx="1547164" cy="777240"/>
          </a:xfrm>
          <a:prstGeom prst="roundRect">
            <a:avLst>
              <a:gd name="adj" fmla="val 6000"/>
            </a:avLst>
          </a:prstGeom>
          <a:solidFill>
            <a:srgbClr val="4C6A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Refund &amp;</a:t>
            </a:r>
          </a:p>
          <a:p>
            <a:pPr algn="ctr"/>
            <a:r>
              <a:rPr sz="950" b="1" i="0">
                <a:solidFill>
                  <a:srgbClr val="FFFFFF"/>
                </a:solidFill>
                <a:latin typeface="Arimo"/>
              </a:rPr>
              <a:t>Commission</a:t>
            </a:r>
          </a:p>
        </p:txBody>
      </p:sp>
      <p:sp>
        <p:nvSpPr>
          <p:cNvPr id="20" name="Oval 19"/>
          <p:cNvSpPr/>
          <p:nvPr/>
        </p:nvSpPr>
        <p:spPr>
          <a:xfrm>
            <a:off x="5400444" y="269748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9</a:t>
            </a:r>
          </a:p>
        </p:txBody>
      </p:sp>
      <p:sp>
        <p:nvSpPr>
          <p:cNvPr id="21" name="Rounded Rectangle 20"/>
          <p:cNvSpPr/>
          <p:nvPr/>
        </p:nvSpPr>
        <p:spPr>
          <a:xfrm>
            <a:off x="7185352" y="2788920"/>
            <a:ext cx="1547164" cy="777240"/>
          </a:xfrm>
          <a:prstGeom prst="roundRect">
            <a:avLst>
              <a:gd name="adj" fmla="val 6000"/>
            </a:avLst>
          </a:prstGeom>
          <a:solidFill>
            <a:srgbClr val="E0B4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FFFFFF"/>
                </a:solidFill>
                <a:latin typeface="Arimo"/>
              </a:rPr>
              <a:t>Review &amp;</a:t>
            </a:r>
          </a:p>
          <a:p>
            <a:pPr algn="ctr"/>
            <a:r>
              <a:rPr sz="950" b="1" i="0">
                <a:solidFill>
                  <a:srgbClr val="FFFFFF"/>
                </a:solidFill>
                <a:latin typeface="Arimo"/>
              </a:rPr>
              <a:t>Rating</a:t>
            </a:r>
          </a:p>
        </p:txBody>
      </p:sp>
      <p:sp>
        <p:nvSpPr>
          <p:cNvPr id="22" name="Oval 21"/>
          <p:cNvSpPr/>
          <p:nvPr/>
        </p:nvSpPr>
        <p:spPr>
          <a:xfrm>
            <a:off x="7093912" y="2697480"/>
            <a:ext cx="237744" cy="237744"/>
          </a:xfrm>
          <a:prstGeom prst="ellipse">
            <a:avLst/>
          </a:prstGeom>
          <a:solidFill>
            <a:srgbClr val="FFFFFF"/>
          </a:solidFill>
          <a:ln w="12700">
            <a:solidFill>
              <a:srgbClr val="1C34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i="0">
                <a:solidFill>
                  <a:srgbClr val="1C343C"/>
                </a:solidFill>
                <a:latin typeface="Arimo"/>
              </a:rPr>
              <a:t>10</a:t>
            </a:r>
          </a:p>
        </p:txBody>
      </p:sp>
      <p:cxnSp>
        <p:nvCxnSpPr>
          <p:cNvPr id="23" name="Connector 22"/>
          <p:cNvCxnSpPr/>
          <p:nvPr/>
        </p:nvCxnSpPr>
        <p:spPr>
          <a:xfrm>
            <a:off x="1958644" y="1897380"/>
            <a:ext cx="146304" cy="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652112" y="1897380"/>
            <a:ext cx="146304" cy="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345580" y="1897380"/>
            <a:ext cx="146304" cy="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39048" y="1897380"/>
            <a:ext cx="146304" cy="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85062" y="2286000"/>
            <a:ext cx="6773872" cy="50292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958644" y="3177540"/>
            <a:ext cx="146304" cy="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52112" y="3177540"/>
            <a:ext cx="146304" cy="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345580" y="3177540"/>
            <a:ext cx="146304" cy="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039048" y="3177540"/>
            <a:ext cx="146304" cy="0"/>
          </a:xfrm>
          <a:prstGeom prst="line">
            <a:avLst/>
          </a:prstGeom>
          <a:ln w="22225">
            <a:solidFill>
              <a:srgbClr val="4C6A7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31/39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Unique Features</a:t>
            </a:r>
          </a:p>
        </p:txBody>
      </p:sp>
      <p:pic>
        <p:nvPicPr>
          <p:cNvPr id="3" name="Picture 2" descr="lightning.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Fully automatic late-fee engine — detects overdue rentals and deducts from the deposit in real time, crediting the vendor instantly</a:t>
            </a:r>
          </a:p>
          <a:p>
            <a:pPr>
              <a:spcAft>
                <a:spcPts val="1100"/>
              </a:spcAft>
            </a:pPr>
            <a:r>
              <a:rPr sz="1150" b="1" i="0">
                <a:solidFill>
                  <a:srgbClr val="E0B4A4"/>
                </a:solidFill>
                <a:latin typeface="Arimo"/>
              </a:rPr>
              <a:t>●  </a:t>
            </a:r>
            <a:r>
              <a:rPr sz="1350" b="0" i="0">
                <a:solidFill>
                  <a:srgbClr val="1C343C"/>
                </a:solidFill>
                <a:latin typeface="Arimo"/>
              </a:rPr>
              <a:t>Smart pickup/return address management with a one-click "same as pickup" shortcut</a:t>
            </a:r>
          </a:p>
          <a:p>
            <a:pPr>
              <a:spcAft>
                <a:spcPts val="1100"/>
              </a:spcAft>
            </a:pPr>
            <a:r>
              <a:rPr sz="1150" b="1" i="0">
                <a:solidFill>
                  <a:srgbClr val="E0B4A4"/>
                </a:solidFill>
                <a:latin typeface="Arimo"/>
              </a:rPr>
              <a:t>●  </a:t>
            </a:r>
            <a:r>
              <a:rPr sz="1350" b="0" i="0">
                <a:solidFill>
                  <a:srgbClr val="1C343C"/>
                </a:solidFill>
                <a:latin typeface="Arimo"/>
              </a:rPr>
              <a:t>Live, auditable transaction history for every late fee and payout</a:t>
            </a:r>
          </a:p>
          <a:p>
            <a:pPr>
              <a:spcAft>
                <a:spcPts val="1100"/>
              </a:spcAft>
            </a:pPr>
            <a:r>
              <a:rPr sz="1150" b="1" i="0">
                <a:solidFill>
                  <a:srgbClr val="E0B4A4"/>
                </a:solidFill>
                <a:latin typeface="Arimo"/>
              </a:rPr>
              <a:t>●  </a:t>
            </a:r>
            <a:r>
              <a:rPr sz="1350" b="0" i="0">
                <a:solidFill>
                  <a:srgbClr val="1C343C"/>
                </a:solidFill>
                <a:latin typeface="Arimo"/>
              </a:rPr>
              <a:t>Realistic demo payment flow that mirrors real bKash/Nagad integration patterns</a:t>
            </a:r>
          </a:p>
          <a:p>
            <a:pPr>
              <a:spcAft>
                <a:spcPts val="1100"/>
              </a:spcAft>
            </a:pPr>
            <a:r>
              <a:rPr sz="1150" b="1" i="0">
                <a:solidFill>
                  <a:srgbClr val="E0B4A4"/>
                </a:solidFill>
                <a:latin typeface="Arimo"/>
              </a:rPr>
              <a:t>●  </a:t>
            </a:r>
            <a:r>
              <a:rPr sz="1350" b="0" i="0">
                <a:solidFill>
                  <a:srgbClr val="1C343C"/>
                </a:solidFill>
                <a:latin typeface="Arimo"/>
              </a:rPr>
              <a:t>Three-tier admin oversight — vendors, products, disputes, overdue rentals, and manual fee adjustment</a:t>
            </a:r>
          </a:p>
          <a:p>
            <a:pPr>
              <a:spcAft>
                <a:spcPts val="1100"/>
              </a:spcAft>
            </a:pPr>
            <a:r>
              <a:rPr sz="1150" b="1" i="0">
                <a:solidFill>
                  <a:srgbClr val="E0B4A4"/>
                </a:solidFill>
                <a:latin typeface="Arimo"/>
              </a:rPr>
              <a:t>●  </a:t>
            </a:r>
            <a:r>
              <a:rPr sz="1350" b="0" i="0">
                <a:solidFill>
                  <a:srgbClr val="1C343C"/>
                </a:solidFill>
                <a:latin typeface="Arimo"/>
              </a:rPr>
              <a:t>Clean Architecture backend — genuinely easy to extend and test, not just academically structured</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32/39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and Solutions</a:t>
            </a:r>
          </a:p>
        </p:txBody>
      </p:sp>
      <p:pic>
        <p:nvPicPr>
          <p:cNvPr id="3" name="Picture 2" descr="wrench.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Challenge: Preventing double-booking of the same product on overlapping dates → Solution: row-level database locking during rental creation</a:t>
            </a:r>
          </a:p>
          <a:p>
            <a:pPr>
              <a:spcAft>
                <a:spcPts val="1100"/>
              </a:spcAft>
            </a:pPr>
            <a:r>
              <a:rPr sz="1150" b="1" i="0">
                <a:solidFill>
                  <a:srgbClr val="E0B4A4"/>
                </a:solidFill>
                <a:latin typeface="Arimo"/>
              </a:rPr>
              <a:t>●  </a:t>
            </a:r>
            <a:r>
              <a:rPr sz="1350" b="0" i="0">
                <a:solidFill>
                  <a:srgbClr val="1C343C"/>
                </a:solidFill>
                <a:latin typeface="Arimo"/>
              </a:rPr>
              <a:t>Challenge: Avoiding double-charging when a rental is both late AND damaged → Solution: late fees are auto-deducted in real time; admin's damage review then builds only on top of that, never re-charging the late portion</a:t>
            </a:r>
          </a:p>
          <a:p>
            <a:pPr>
              <a:spcAft>
                <a:spcPts val="1100"/>
              </a:spcAft>
            </a:pPr>
            <a:r>
              <a:rPr sz="1150" b="1" i="0">
                <a:solidFill>
                  <a:srgbClr val="E0B4A4"/>
                </a:solidFill>
                <a:latin typeface="Arimo"/>
              </a:rPr>
              <a:t>●  </a:t>
            </a:r>
            <a:r>
              <a:rPr sz="1350" b="0" i="0">
                <a:solidFill>
                  <a:srgbClr val="1C343C"/>
                </a:solidFill>
                <a:latin typeface="Arimo"/>
              </a:rPr>
              <a:t>Challenge: Keeping the frontend and backend in sync on types and business rules → Solution: one shared TypeScript package across the monorepo as the single source of truth</a:t>
            </a:r>
          </a:p>
          <a:p>
            <a:pPr>
              <a:spcAft>
                <a:spcPts val="1100"/>
              </a:spcAft>
            </a:pPr>
            <a:r>
              <a:rPr sz="1150" b="1" i="0">
                <a:solidFill>
                  <a:srgbClr val="E0B4A4"/>
                </a:solidFill>
                <a:latin typeface="Arimo"/>
              </a:rPr>
              <a:t>●  </a:t>
            </a:r>
            <a:r>
              <a:rPr sz="1350" b="0" i="0">
                <a:solidFill>
                  <a:srgbClr val="1C343C"/>
                </a:solidFill>
                <a:latin typeface="Arimo"/>
              </a:rPr>
              <a:t>Challenge: No access to a live payment gateway → Solution: a realistic, fully-functional demo bKash flow</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33/39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Limitations</a:t>
            </a:r>
          </a:p>
        </p:txBody>
      </p:sp>
      <p:pic>
        <p:nvPicPr>
          <p:cNvPr id="3" name="Picture 2" descr="minus_circle.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Payment gateway runs in demo mode — not connected to live bKash/Nagad merchant accounts</a:t>
            </a:r>
          </a:p>
          <a:p>
            <a:pPr>
              <a:spcAft>
                <a:spcPts val="1100"/>
              </a:spcAft>
            </a:pPr>
            <a:r>
              <a:rPr sz="1150" b="1" i="0">
                <a:solidFill>
                  <a:srgbClr val="E0B4A4"/>
                </a:solidFill>
                <a:latin typeface="Arimo"/>
              </a:rPr>
              <a:t>●  </a:t>
            </a:r>
            <a:r>
              <a:rPr sz="1350" b="0" i="0">
                <a:solidFill>
                  <a:srgbClr val="1C343C"/>
                </a:solidFill>
                <a:latin typeface="Arimo"/>
              </a:rPr>
              <a:t>Notifications are in-system only — no SMS or email integration yet</a:t>
            </a:r>
          </a:p>
          <a:p>
            <a:pPr>
              <a:spcAft>
                <a:spcPts val="1100"/>
              </a:spcAft>
            </a:pPr>
            <a:r>
              <a:rPr sz="1150" b="1" i="0">
                <a:solidFill>
                  <a:srgbClr val="E0B4A4"/>
                </a:solidFill>
                <a:latin typeface="Arimo"/>
              </a:rPr>
              <a:t>●  </a:t>
            </a:r>
            <a:r>
              <a:rPr sz="1350" b="0" i="0">
                <a:solidFill>
                  <a:srgbClr val="1C343C"/>
                </a:solidFill>
                <a:latin typeface="Arimo"/>
              </a:rPr>
              <a:t>Single currency (BDT) and single-language interface</a:t>
            </a:r>
          </a:p>
          <a:p>
            <a:pPr>
              <a:spcAft>
                <a:spcPts val="1100"/>
              </a:spcAft>
            </a:pPr>
            <a:r>
              <a:rPr sz="1150" b="1" i="0">
                <a:solidFill>
                  <a:srgbClr val="E0B4A4"/>
                </a:solidFill>
                <a:latin typeface="Arimo"/>
              </a:rPr>
              <a:t>●  </a:t>
            </a:r>
            <a:r>
              <a:rPr sz="1350" b="0" i="0">
                <a:solidFill>
                  <a:srgbClr val="1C343C"/>
                </a:solidFill>
                <a:latin typeface="Arimo"/>
              </a:rPr>
              <a:t>No native mobile app — the web UI is responsive, but not packaged as iOS/Android apps</a:t>
            </a:r>
          </a:p>
          <a:p>
            <a:pPr>
              <a:spcAft>
                <a:spcPts val="1100"/>
              </a:spcAft>
            </a:pPr>
            <a:r>
              <a:rPr sz="1150" b="1" i="0">
                <a:solidFill>
                  <a:srgbClr val="E0B4A4"/>
                </a:solidFill>
                <a:latin typeface="Arimo"/>
              </a:rPr>
              <a:t>●  </a:t>
            </a:r>
            <a:r>
              <a:rPr sz="1350" b="0" i="0">
                <a:solidFill>
                  <a:srgbClr val="1C343C"/>
                </a:solidFill>
                <a:latin typeface="Arimo"/>
              </a:rPr>
              <a:t>Some admin actions, like final damage deduction, still require manual human review rather than full automation</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34/39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Improvements</a:t>
            </a:r>
          </a:p>
        </p:txBody>
      </p:sp>
      <p:pic>
        <p:nvPicPr>
          <p:cNvPr id="3" name="Picture 2" descr="rocket.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Integrate live bKash, Nagad, and card payment gateways</a:t>
            </a:r>
          </a:p>
          <a:p>
            <a:pPr>
              <a:spcAft>
                <a:spcPts val="1100"/>
              </a:spcAft>
            </a:pPr>
            <a:r>
              <a:rPr sz="1150" b="1" i="0">
                <a:solidFill>
                  <a:srgbClr val="E0B4A4"/>
                </a:solidFill>
                <a:latin typeface="Arimo"/>
              </a:rPr>
              <a:t>●  </a:t>
            </a:r>
            <a:r>
              <a:rPr sz="1350" b="0" i="0">
                <a:solidFill>
                  <a:srgbClr val="1C343C"/>
                </a:solidFill>
                <a:latin typeface="Arimo"/>
              </a:rPr>
              <a:t>Add SMS and email notification channels alongside in-system alerts</a:t>
            </a:r>
          </a:p>
          <a:p>
            <a:pPr>
              <a:spcAft>
                <a:spcPts val="1100"/>
              </a:spcAft>
            </a:pPr>
            <a:r>
              <a:rPr sz="1150" b="1" i="0">
                <a:solidFill>
                  <a:srgbClr val="E0B4A4"/>
                </a:solidFill>
                <a:latin typeface="Arimo"/>
              </a:rPr>
              <a:t>●  </a:t>
            </a:r>
            <a:r>
              <a:rPr sz="1350" b="0" i="0">
                <a:solidFill>
                  <a:srgbClr val="1C343C"/>
                </a:solidFill>
                <a:latin typeface="Arimo"/>
              </a:rPr>
              <a:t>Native mobile apps (React Native) for customers and vendors</a:t>
            </a:r>
          </a:p>
          <a:p>
            <a:pPr>
              <a:spcAft>
                <a:spcPts val="1100"/>
              </a:spcAft>
            </a:pPr>
            <a:r>
              <a:rPr sz="1150" b="1" i="0">
                <a:solidFill>
                  <a:srgbClr val="E0B4A4"/>
                </a:solidFill>
                <a:latin typeface="Arimo"/>
              </a:rPr>
              <a:t>●  </a:t>
            </a:r>
            <a:r>
              <a:rPr sz="1350" b="0" i="0">
                <a:solidFill>
                  <a:srgbClr val="1C343C"/>
                </a:solidFill>
                <a:latin typeface="Arimo"/>
              </a:rPr>
              <a:t>AI-assisted dynamic pricing and damage-image detection</a:t>
            </a:r>
          </a:p>
          <a:p>
            <a:pPr>
              <a:spcAft>
                <a:spcPts val="1100"/>
              </a:spcAft>
            </a:pPr>
            <a:r>
              <a:rPr sz="1150" b="1" i="0">
                <a:solidFill>
                  <a:srgbClr val="E0B4A4"/>
                </a:solidFill>
                <a:latin typeface="Arimo"/>
              </a:rPr>
              <a:t>●  </a:t>
            </a:r>
            <a:r>
              <a:rPr sz="1350" b="0" i="0">
                <a:solidFill>
                  <a:srgbClr val="1C343C"/>
                </a:solidFill>
                <a:latin typeface="Arimo"/>
              </a:rPr>
              <a:t>Multi-language support (Bangla / English toggle)</a:t>
            </a:r>
          </a:p>
          <a:p>
            <a:pPr>
              <a:spcAft>
                <a:spcPts val="1100"/>
              </a:spcAft>
            </a:pPr>
            <a:r>
              <a:rPr sz="1150" b="1" i="0">
                <a:solidFill>
                  <a:srgbClr val="E0B4A4"/>
                </a:solidFill>
                <a:latin typeface="Arimo"/>
              </a:rPr>
              <a:t>●  </a:t>
            </a:r>
            <a:r>
              <a:rPr sz="1350" b="0" i="0">
                <a:solidFill>
                  <a:srgbClr val="1C343C"/>
                </a:solidFill>
                <a:latin typeface="Arimo"/>
              </a:rPr>
              <a:t>Real-time chat between customer and vendor</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35/39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Results</a:t>
            </a:r>
          </a:p>
        </p:txBody>
      </p:sp>
      <p:pic>
        <p:nvPicPr>
          <p:cNvPr id="3" name="Picture 2" descr="clipboard_check.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Manual end-to-end testing of the full rental lifecycle across all three roles</a:t>
            </a:r>
          </a:p>
          <a:p>
            <a:pPr>
              <a:spcAft>
                <a:spcPts val="1100"/>
              </a:spcAft>
            </a:pPr>
            <a:r>
              <a:rPr sz="1150" b="1" i="0">
                <a:solidFill>
                  <a:srgbClr val="E0B4A4"/>
                </a:solidFill>
                <a:latin typeface="Arimo"/>
              </a:rPr>
              <a:t>●  </a:t>
            </a:r>
            <a:r>
              <a:rPr sz="1350" b="0" i="0">
                <a:solidFill>
                  <a:srgbClr val="1C343C"/>
                </a:solidFill>
                <a:latin typeface="Arimo"/>
              </a:rPr>
              <a:t>API-level testing of critical endpoints (auth, rentals, payments) using Vitest and Supertest</a:t>
            </a:r>
          </a:p>
          <a:p>
            <a:pPr>
              <a:spcAft>
                <a:spcPts val="1100"/>
              </a:spcAft>
            </a:pPr>
            <a:r>
              <a:rPr sz="1150" b="1" i="0">
                <a:solidFill>
                  <a:srgbClr val="E0B4A4"/>
                </a:solidFill>
                <a:latin typeface="Arimo"/>
              </a:rPr>
              <a:t>●  </a:t>
            </a:r>
            <a:r>
              <a:rPr sz="1350" b="0" i="0">
                <a:solidFill>
                  <a:srgbClr val="1C343C"/>
                </a:solidFill>
                <a:latin typeface="Arimo"/>
              </a:rPr>
              <a:t>Edge-case verification — overlapping bookings rejected, late fee capped at deposit amount, no duplicate payouts</a:t>
            </a:r>
          </a:p>
          <a:p>
            <a:pPr>
              <a:spcAft>
                <a:spcPts val="1100"/>
              </a:spcAft>
            </a:pPr>
            <a:r>
              <a:rPr sz="1150" b="1" i="0">
                <a:solidFill>
                  <a:srgbClr val="E0B4A4"/>
                </a:solidFill>
                <a:latin typeface="Arimo"/>
              </a:rPr>
              <a:t>●  </a:t>
            </a:r>
            <a:r>
              <a:rPr sz="1350" b="0" i="0">
                <a:solidFill>
                  <a:srgbClr val="1C343C"/>
                </a:solidFill>
                <a:latin typeface="Arimo"/>
              </a:rPr>
              <a:t>Cross-browser and responsive UI testing across mobile, tablet, and desktop breakpoints</a:t>
            </a:r>
          </a:p>
          <a:p>
            <a:pPr>
              <a:spcAft>
                <a:spcPts val="1100"/>
              </a:spcAft>
            </a:pPr>
            <a:r>
              <a:rPr sz="1150" b="1" i="0">
                <a:solidFill>
                  <a:srgbClr val="E0B4A4"/>
                </a:solidFill>
                <a:latin typeface="Arimo"/>
              </a:rPr>
              <a:t>●  </a:t>
            </a:r>
            <a:r>
              <a:rPr sz="1350" b="0" i="0">
                <a:solidFill>
                  <a:srgbClr val="1C343C"/>
                </a:solidFill>
                <a:latin typeface="Arimo"/>
              </a:rPr>
              <a:t>Result: every core user journey completed successfully with no data inconsistency</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36/39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Achievements</a:t>
            </a:r>
          </a:p>
        </p:txBody>
      </p:sp>
      <p:pic>
        <p:nvPicPr>
          <p:cNvPr id="3" name="Picture 2" descr="trophy.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A fully functional, end-to-end multi-vendor rental platform — not a prototype</a:t>
            </a:r>
          </a:p>
          <a:p>
            <a:pPr>
              <a:spcAft>
                <a:spcPts val="1100"/>
              </a:spcAft>
            </a:pPr>
            <a:r>
              <a:rPr sz="1150" b="1" i="0">
                <a:solidFill>
                  <a:srgbClr val="E0B4A4"/>
                </a:solidFill>
                <a:latin typeface="Arimo"/>
              </a:rPr>
              <a:t>●  </a:t>
            </a:r>
            <a:r>
              <a:rPr sz="1350" b="0" i="0">
                <a:solidFill>
                  <a:srgbClr val="1C343C"/>
                </a:solidFill>
                <a:latin typeface="Arimo"/>
              </a:rPr>
              <a:t>Automated business logic that would normally require dedicated staff — late fees, payouts, commission</a:t>
            </a:r>
          </a:p>
          <a:p>
            <a:pPr>
              <a:spcAft>
                <a:spcPts val="1100"/>
              </a:spcAft>
            </a:pPr>
            <a:r>
              <a:rPr sz="1150" b="1" i="0">
                <a:solidFill>
                  <a:srgbClr val="E0B4A4"/>
                </a:solidFill>
                <a:latin typeface="Arimo"/>
              </a:rPr>
              <a:t>●  </a:t>
            </a:r>
            <a:r>
              <a:rPr sz="1350" b="0" i="0">
                <a:solidFill>
                  <a:srgbClr val="1C343C"/>
                </a:solidFill>
                <a:latin typeface="Arimo"/>
              </a:rPr>
              <a:t>Clean, scalable architecture suitable for real-world deployment</a:t>
            </a:r>
          </a:p>
          <a:p>
            <a:pPr>
              <a:spcAft>
                <a:spcPts val="1100"/>
              </a:spcAft>
            </a:pPr>
            <a:r>
              <a:rPr sz="1150" b="1" i="0">
                <a:solidFill>
                  <a:srgbClr val="E0B4A4"/>
                </a:solidFill>
                <a:latin typeface="Arimo"/>
              </a:rPr>
              <a:t>●  </a:t>
            </a:r>
            <a:r>
              <a:rPr sz="1350" b="0" i="0">
                <a:solidFill>
                  <a:srgbClr val="1C343C"/>
                </a:solidFill>
                <a:latin typeface="Arimo"/>
              </a:rPr>
              <a:t>A practical, localized solution for an underserved market — organized rentals in Bangladesh</a:t>
            </a:r>
          </a:p>
          <a:p>
            <a:pPr>
              <a:spcAft>
                <a:spcPts val="1100"/>
              </a:spcAft>
            </a:pPr>
            <a:r>
              <a:rPr sz="1150" b="1" i="0">
                <a:solidFill>
                  <a:srgbClr val="E0B4A4"/>
                </a:solidFill>
                <a:latin typeface="Arimo"/>
              </a:rPr>
              <a:t>●  </a:t>
            </a:r>
            <a:r>
              <a:rPr sz="1350" b="0" i="0">
                <a:solidFill>
                  <a:srgbClr val="1C343C"/>
                </a:solidFill>
                <a:latin typeface="Arimo"/>
              </a:rPr>
              <a:t>Hands-on mastery of full-stack development, database design, security, and system architecture</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37/39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pic>
        <p:nvPicPr>
          <p:cNvPr id="3" name="Picture 2" descr="flag.png"/>
          <p:cNvPicPr>
            <a:picLocks noChangeAspect="1"/>
          </p:cNvPicPr>
          <p:nvPr/>
        </p:nvPicPr>
        <p:blipFill>
          <a:blip r:embed="rId2"/>
          <a:stretch>
            <a:fillRect/>
          </a:stretch>
        </p:blipFill>
        <p:spPr>
          <a:xfrm>
            <a:off x="7726680" y="548640"/>
            <a:ext cx="457200" cy="457200"/>
          </a:xfrm>
          <a:prstGeom prst="rect">
            <a:avLst/>
          </a:prstGeom>
        </p:spPr>
      </p:pic>
      <p:sp>
        <p:nvSpPr>
          <p:cNvPr id="4" name="TextBox 3"/>
          <p:cNvSpPr txBox="1"/>
          <p:nvPr/>
        </p:nvSpPr>
        <p:spPr>
          <a:xfrm>
            <a:off x="1188720" y="1417320"/>
            <a:ext cx="7086600" cy="3383280"/>
          </a:xfrm>
          <a:prstGeom prst="rect">
            <a:avLst/>
          </a:prstGeom>
          <a:noFill/>
        </p:spPr>
        <p:txBody>
          <a:bodyPr wrap="square" anchor="t" lIns="0" rIns="0" tIns="0" bIns="0">
            <a:spAutoFit/>
          </a:bodyPr>
          <a:lstStyle/>
          <a:p>
            <a:pPr>
              <a:spcAft>
                <a:spcPts val="1100"/>
              </a:spcAft>
            </a:pPr>
            <a:r>
              <a:rPr sz="1150" b="1" i="0">
                <a:solidFill>
                  <a:srgbClr val="E0B4A4"/>
                </a:solidFill>
                <a:latin typeface="Arimo"/>
              </a:rPr>
              <a:t>●  </a:t>
            </a:r>
            <a:r>
              <a:rPr sz="1350" b="0" i="0">
                <a:solidFill>
                  <a:srgbClr val="1C343C"/>
                </a:solidFill>
                <a:latin typeface="Arimo"/>
              </a:rPr>
              <a:t>Lendora replaces an informal, trust-based rental culture with a structured, secure digital platform</a:t>
            </a:r>
          </a:p>
          <a:p>
            <a:pPr>
              <a:spcAft>
                <a:spcPts val="1100"/>
              </a:spcAft>
            </a:pPr>
            <a:r>
              <a:rPr sz="1150" b="1" i="0">
                <a:solidFill>
                  <a:srgbClr val="E0B4A4"/>
                </a:solidFill>
                <a:latin typeface="Arimo"/>
              </a:rPr>
              <a:t>●  </a:t>
            </a:r>
            <a:r>
              <a:rPr sz="1350" b="0" i="0">
                <a:solidFill>
                  <a:srgbClr val="1C343C"/>
                </a:solidFill>
                <a:latin typeface="Arimo"/>
              </a:rPr>
              <a:t>Every step of the rental lifecycle — registration to refund — is automated, tracked, and auditable</a:t>
            </a:r>
          </a:p>
          <a:p>
            <a:pPr>
              <a:spcAft>
                <a:spcPts val="1100"/>
              </a:spcAft>
            </a:pPr>
            <a:r>
              <a:rPr sz="1150" b="1" i="0">
                <a:solidFill>
                  <a:srgbClr val="E0B4A4"/>
                </a:solidFill>
                <a:latin typeface="Arimo"/>
              </a:rPr>
              <a:t>●  </a:t>
            </a:r>
            <a:r>
              <a:rPr sz="1350" b="0" i="0">
                <a:solidFill>
                  <a:srgbClr val="1C343C"/>
                </a:solidFill>
                <a:latin typeface="Arimo"/>
              </a:rPr>
              <a:t>The project demonstrates strong full-stack engineering across architecture, database design, security, and UX</a:t>
            </a:r>
          </a:p>
          <a:p>
            <a:pPr>
              <a:spcAft>
                <a:spcPts val="1100"/>
              </a:spcAft>
            </a:pPr>
            <a:r>
              <a:rPr sz="1150" b="1" i="0">
                <a:solidFill>
                  <a:srgbClr val="E0B4A4"/>
                </a:solidFill>
                <a:latin typeface="Arimo"/>
              </a:rPr>
              <a:t>●  </a:t>
            </a:r>
            <a:r>
              <a:rPr sz="1350" b="0" i="0">
                <a:solidFill>
                  <a:srgbClr val="1C343C"/>
                </a:solidFill>
                <a:latin typeface="Arimo"/>
              </a:rPr>
              <a:t>Built to be extensible — a solid foundation for a real product, not just an academic exercise</a:t>
            </a:r>
          </a:p>
        </p:txBody>
      </p:sp>
      <p:sp>
        <p:nvSpPr>
          <p:cNvPr id="5" name="TextBox 4"/>
          <p:cNvSpPr txBox="1"/>
          <p:nvPr/>
        </p:nvSpPr>
        <p:spPr>
          <a:xfrm>
            <a:off x="2103120" y="4850892"/>
            <a:ext cx="4937760" cy="228600"/>
          </a:xfrm>
          <a:prstGeom prst="rect">
            <a:avLst/>
          </a:prstGeom>
          <a:noFill/>
        </p:spPr>
        <p:txBody>
          <a:bodyPr wrap="square" anchor="t" lIns="0" rIns="0" tIns="0" bIns="0">
            <a:spAutoFit/>
          </a:bodyPr>
          <a:lstStyle/>
          <a:p>
            <a:pPr algn="ctr"/>
            <a:r>
              <a:rPr sz="850" b="0" i="0">
                <a:solidFill>
                  <a:srgbClr val="4C6A78"/>
                </a:solidFill>
                <a:latin typeface="Arimo"/>
              </a:rPr>
              <a:t>LENDORA  •  Rental Marketplace Defense  •  Slide 38/39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800">
                <a:solidFill>
                  <a:srgbClr val="1C343C"/>
                </a:solidFill>
              </a:rPr>
              <a:t>Thank You</a:t>
            </a:r>
          </a:p>
        </p:txBody>
      </p:sp>
      <p:sp>
        <p:nvSpPr>
          <p:cNvPr id="3" name="Subtitle 2"/>
          <p:cNvSpPr>
            <a:spLocks noGrp="1"/>
          </p:cNvSpPr>
          <p:nvPr>
            <p:ph type="subTitle" idx="1"/>
          </p:nvPr>
        </p:nvSpPr>
        <p:spPr/>
        <p:txBody>
          <a:bodyPr/>
          <a:lstStyle/>
          <a:p>
            <a:r>
              <a:rPr sz="1600" i="1">
                <a:solidFill>
                  <a:srgbClr val="4C6A78"/>
                </a:solidFill>
                <a:latin typeface="Arimo"/>
              </a:rPr>
              <a:t>Questions &amp; Discussion</a:t>
            </a:r>
          </a:p>
        </p:txBody>
      </p:sp>
      <p:pic>
        <p:nvPicPr>
          <p:cNvPr id="4" name="Picture 3" descr="heart.png"/>
          <p:cNvPicPr>
            <a:picLocks noChangeAspect="1"/>
          </p:cNvPicPr>
          <p:nvPr/>
        </p:nvPicPr>
        <p:blipFill>
          <a:blip r:embed="rId2"/>
          <a:stretch>
            <a:fillRect/>
          </a:stretch>
        </p:blipFill>
        <p:spPr>
          <a:xfrm>
            <a:off x="4114800" y="3931920"/>
            <a:ext cx="914400" cy="914400"/>
          </a:xfrm>
          <a:prstGeom prst="rect">
            <a:avLst/>
          </a:prstGeom>
        </p:spPr>
      </p:pic>
      <p:sp>
        <p:nvSpPr>
          <p:cNvPr id="5" name="TextBox 4"/>
          <p:cNvSpPr txBox="1"/>
          <p:nvPr/>
        </p:nvSpPr>
        <p:spPr>
          <a:xfrm>
            <a:off x="1463040" y="3886200"/>
            <a:ext cx="6217920" cy="822960"/>
          </a:xfrm>
          <a:prstGeom prst="rect">
            <a:avLst/>
          </a:prstGeom>
          <a:noFill/>
        </p:spPr>
        <p:txBody>
          <a:bodyPr wrap="square" anchor="t" lIns="0" rIns="0" tIns="0" bIns="0">
            <a:spAutoFit/>
          </a:bodyPr>
          <a:lstStyle/>
          <a:p>
            <a:pPr algn="ctr">
              <a:spcAft>
                <a:spcPts val="400"/>
              </a:spcAft>
            </a:pPr>
            <a:r>
              <a:rPr sz="1100" b="0" i="0">
                <a:solidFill>
                  <a:srgbClr val="1C343C"/>
                </a:solidFill>
                <a:latin typeface="Arimo"/>
              </a:rPr>
              <a:t>[Your Name]</a:t>
            </a:r>
          </a:p>
          <a:p>
            <a:pPr algn="ctr">
              <a:spcAft>
                <a:spcPts val="400"/>
              </a:spcAft>
            </a:pPr>
            <a:r>
              <a:rPr sz="1100" b="0" i="0">
                <a:solidFill>
                  <a:srgbClr val="1C343C"/>
                </a:solidFill>
                <a:latin typeface="Arimo"/>
              </a:rPr>
              <a:t>[Email / Contact]</a:t>
            </a:r>
          </a:p>
          <a:p>
            <a:pPr algn="ctr">
              <a:spcAft>
                <a:spcPts val="400"/>
              </a:spcAft>
            </a:pPr>
            <a:r>
              <a:rPr sz="1100" b="0" i="0">
                <a:solidFill>
                  <a:srgbClr val="1C343C"/>
                </a:solidFill>
                <a:latin typeface="Arimo"/>
              </a:rPr>
              <a:t>Lendora — Rental Marketplace</a:t>
            </a:r>
          </a:p>
        </p:txBody>
      </p:sp>
    </p:spTree>
  </p:cSld>
  <p:clrMapOvr>
    <a:masterClrMapping/>
  </p:clrMapOvr>
</p:sld>
</file>

<file path=ppt/theme/theme1.xml><?xml version="1.0" encoding="utf-8"?>
<a:theme xmlns:a="http://schemas.openxmlformats.org/drawingml/2006/main" xmlns:r="http://schemas.openxmlformats.org/officeDocument/2006/relationships" name="Elegant Workplan by Slidesgo">
  <a:themeElements>
    <a:clrScheme name="Simple Light">
      <a:dk1>
        <a:srgbClr val="1C343C"/>
      </a:dk1>
      <a:lt1>
        <a:srgbClr val="F0EBE4"/>
      </a:lt1>
      <a:dk2>
        <a:srgbClr val="4C6A78"/>
      </a:dk2>
      <a:lt2>
        <a:srgbClr val="A7B3B2"/>
      </a:lt2>
      <a:accent1>
        <a:srgbClr val="E0B4A4"/>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